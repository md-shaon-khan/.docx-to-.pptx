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Modulation?</a:t>
            </a:r>
          </a:p>
          <a:p>
            <a:r>
              <a:t>Modulation is the process of varying a parameter of a high-frequency carrier signal according to a low-frequency information (message) signal, so that the information can be transmitted over a long distance efficiently.</a:t>
            </a:r>
          </a:p>
          <a:p>
            <a:r>
              <a:t>The carrier signal is usually a high-frequency sinusoidal wave, and the message signal contains the actual information such as voice, music, data, or video.</a:t>
            </a:r>
          </a:p>
          <a:p>
            <a:r>
              <a:t>In modulation, one parameter of the carrier wave is changed based on the message signal:</a:t>
            </a:r>
          </a:p>
          <a:p>
            <a:r>
              <a:t>Amplitude</a:t>
            </a:r>
          </a:p>
          <a:p>
            <a:r>
              <a:t>Frequency</a:t>
            </a:r>
          </a:p>
          <a:p>
            <a:r>
              <a:t>Phase</a:t>
            </a:r>
          </a:p>
          <a:p>
            <a:r>
              <a:t>The result is called a modulated signal.</a:t>
            </a:r>
          </a:p>
          <a:p>
            <a:r>
              <a:t>Why Modulation is Necessary</a:t>
            </a:r>
          </a:p>
          <a:p>
            <a:r>
              <a:t>Direct transmission of low-frequency message signals is not practical. Modulation solves several problems:</a:t>
            </a:r>
          </a:p>
          <a:p>
            <a:r>
              <a:t>Increases communication range</a:t>
            </a:r>
          </a:p>
          <a:p>
            <a:r>
              <a:t>High-frequency signals can travel longer distances with less loss.</a:t>
            </a:r>
          </a:p>
          <a:p>
            <a:r>
              <a:t>Reduces antenna size</a:t>
            </a:r>
          </a:p>
          <a:p>
            <a:r>
              <a:t>Antenna height is inversely proportional to frequency.</a:t>
            </a:r>
          </a:p>
          <a:p>
            <a:r>
              <a:t>Higher frequency → smaller antenna.</a:t>
            </a:r>
          </a:p>
          <a:p>
            <a:r>
              <a:t>Improves signal-to-noise ratio (SNR)</a:t>
            </a:r>
          </a:p>
          <a:p>
            <a:r>
              <a:t>High-frequency transmission reduces the effect of noise.</a:t>
            </a:r>
          </a:p>
          <a:p>
            <a:r>
              <a:t>Avoids signal mixing (interference)</a:t>
            </a:r>
          </a:p>
          <a:p>
            <a:r>
              <a:t>Different users can transmit at different carrier frequencies.</a:t>
            </a:r>
          </a:p>
          <a:p>
            <a:r>
              <a:t>Carrier Signal and Message Signal</a:t>
            </a:r>
          </a:p>
          <a:p>
            <a:r>
              <a:t>Message Signal</a:t>
            </a:r>
          </a:p>
          <a:p>
            <a:r>
              <a:t>Low frequency</a:t>
            </a:r>
          </a:p>
          <a:p>
            <a:r>
              <a:t>Contains information</a:t>
            </a:r>
          </a:p>
          <a:p>
            <a:r>
              <a:t>Cannot travel long distances efficiently</a:t>
            </a:r>
          </a:p>
          <a:p>
            <a:r>
              <a:t>Example: human voice (20 Hz – 20 kHz)</a:t>
            </a:r>
          </a:p>
          <a:p>
            <a:r>
              <a:t>Carrier Signal</a:t>
            </a:r>
          </a:p>
          <a:p>
            <a:r>
              <a:t>High frequency</a:t>
            </a:r>
          </a:p>
          <a:p>
            <a:r>
              <a:t>Does not contain information by itself</a:t>
            </a:r>
          </a:p>
          <a:p>
            <a:r>
              <a:t>Used to carry the message signal</a:t>
            </a:r>
          </a:p>
          <a:p>
            <a:r>
              <a:t>Example: radio frequency signals (MHz range)</a:t>
            </a:r>
          </a:p>
          <a:p>
            <a:r>
              <a:t>Types of Modulation Techniques</a:t>
            </a:r>
          </a:p>
          <a:p>
            <a:r>
              <a:t>Modulation techniques are mainly divided into two categories:</a:t>
            </a:r>
          </a:p>
          <a:p>
            <a:r>
              <a:t>Analog Modulation</a:t>
            </a:r>
          </a:p>
          <a:p>
            <a:r>
              <a:t>Digital Modulation</a:t>
            </a:r>
          </a:p>
          <a:p>
            <a:r>
              <a:t>1. Analog Modulation</a:t>
            </a:r>
          </a:p>
          <a:p>
            <a:r>
              <a:t>In Analog Modulation, both the carrier signal and the message signal are analog signals.</a:t>
            </a:r>
          </a:p>
          <a:p>
            <a:r>
              <a:t>An analog signal is continuous in nature and can take infinite values between two limits.</a:t>
            </a:r>
          </a:p>
          <a:p>
            <a:r>
              <a:t>Types of Analog Modulation</a:t>
            </a:r>
          </a:p>
          <a:p>
            <a:r>
              <a:t>Amplitude Modulation (AM)</a:t>
            </a:r>
          </a:p>
          <a:p>
            <a:r>
              <a:t>Amplitude of the carrier is varied</a:t>
            </a:r>
          </a:p>
          <a:p>
            <a:r>
              <a:t>Frequency and phase remain constant</a:t>
            </a:r>
          </a:p>
          <a:p>
            <a:r>
              <a:t>Frequency Modulation (FM)</a:t>
            </a:r>
          </a:p>
          <a:p>
            <a:r>
              <a:t>Frequency of the carrier is varied</a:t>
            </a:r>
          </a:p>
          <a:p>
            <a:r>
              <a:t>Amplitude remains constant</a:t>
            </a:r>
          </a:p>
          <a:p>
            <a:r>
              <a:t>Phase Modulation (PM)</a:t>
            </a:r>
          </a:p>
          <a:p>
            <a:r>
              <a:t>Phase of the carrier is varied</a:t>
            </a:r>
          </a:p>
          <a:p>
            <a:r>
              <a:t>Amplitude and frequency remain constant</a:t>
            </a:r>
          </a:p>
          <a:p>
            <a:r>
              <a:t>2. Digital Modulation</a:t>
            </a:r>
          </a:p>
          <a:p>
            <a:r>
              <a:t>In Digital Modulation:</a:t>
            </a:r>
          </a:p>
          <a:p>
            <a:r>
              <a:t>Carrier signal is analog</a:t>
            </a:r>
          </a:p>
          <a:p>
            <a:r>
              <a:t>Message signal is digital (binary)</a:t>
            </a:r>
          </a:p>
          <a:p>
            <a:r>
              <a:t>Digital modulation is widely used in modern communication systems such as mobile communication, Wi-Fi, and satellite communication.</a:t>
            </a:r>
          </a:p>
          <a:p>
            <a:r>
              <a:t>Examples of Digital Modulation</a:t>
            </a:r>
          </a:p>
          <a:p>
            <a:r>
              <a:t>ASK (Amplitude Shift Keying)</a:t>
            </a:r>
          </a:p>
          <a:p>
            <a:r>
              <a:t>FSK (Frequency Shift Keying)</a:t>
            </a:r>
          </a:p>
          <a:p>
            <a:r>
              <a:t>PSK (Phase Shift Keying)</a:t>
            </a:r>
          </a:p>
          <a:p>
            <a:r>
              <a:t>QAM (Quadrature Amplitude Modulation)</a:t>
            </a:r>
          </a:p>
          <a:p>
            <a:r>
              <a:t>Analog Waves</a:t>
            </a:r>
          </a:p>
          <a:p>
            <a:r>
              <a:t>Analog waves are continuous signals.</a:t>
            </a:r>
          </a:p>
          <a:p>
            <a:r>
              <a:t>They can take any value within a range</a:t>
            </a:r>
          </a:p>
          <a:p>
            <a:r>
              <a:t>There are infinite possible amplitude levels</a:t>
            </a:r>
          </a:p>
          <a:p>
            <a:r>
              <a:t>More sensitive to noise</a:t>
            </a:r>
          </a:p>
          <a:p>
            <a:r>
              <a:t>Example:</a:t>
            </a:r>
          </a:p>
          <a:p>
            <a:r>
              <a:t>Voice signal, temperature signal</a:t>
            </a:r>
          </a:p>
          <a:p>
            <a:r>
              <a:t>Digital Signals</a:t>
            </a:r>
          </a:p>
          <a:p>
            <a:r>
              <a:t>Digital signals are discrete signals.</a:t>
            </a:r>
          </a:p>
          <a:p>
            <a:r>
              <a:t>They have only two levels:</a:t>
            </a:r>
          </a:p>
          <a:p>
            <a:r>
              <a:t>Logic 0 → 0 volts</a:t>
            </a:r>
          </a:p>
          <a:p>
            <a:r>
              <a:t>Logic 1 → non-zero voltage</a:t>
            </a:r>
          </a:p>
          <a:p>
            <a:r>
              <a:t>No intermediate values exist</a:t>
            </a:r>
          </a:p>
          <a:p>
            <a:r>
              <a:t>Less affected by noise</a:t>
            </a:r>
          </a:p>
          <a:p>
            <a:r>
              <a:t>Example:</a:t>
            </a:r>
          </a:p>
          <a:p>
            <a:r>
              <a:t>Binary data in computers</a:t>
            </a:r>
          </a:p>
          <a:p>
            <a:r>
              <a:t>What are Digital Modulation Techniques?</a:t>
            </a:r>
          </a:p>
          <a:p>
            <a:r>
              <a:t>Digital Modulation is the process of transmitting digital data (bits: 0 and 1) by modifying a high-frequency analog carrier signal.</a:t>
            </a:r>
          </a:p>
          <a:p>
            <a:r>
              <a:t>Unlike Analog Modulation, where the carrier parameter changes continuously, in Digital Modulation the carrier parameter changes discretely between fixed values. This discrete</a:t>
            </a:r>
          </a:p>
          <a:p>
            <a:r>
              <a:t>change is called Shift Keying.</a:t>
            </a:r>
          </a:p>
          <a:p>
            <a:r>
              <a:t>Concept of Shift Keying</a:t>
            </a:r>
          </a:p>
          <a:p>
            <a:r>
              <a:t>Shift Keying means:</a:t>
            </a:r>
          </a:p>
          <a:p>
            <a:r>
              <a:t>The amplitude, frequency, or phase of the carrier signal is shifted between two or more fixed levels</a:t>
            </a:r>
          </a:p>
          <a:p>
            <a:r>
              <a:t>Each level represents digital information (bits)</a:t>
            </a:r>
          </a:p>
          <a:p>
            <a:r>
              <a:t>Because digital data is binary:</a:t>
            </a:r>
          </a:p>
          <a:p>
            <a:r>
              <a:t>Two discrete levels are enough → Binary Shift Keying</a:t>
            </a:r>
          </a:p>
          <a:p>
            <a:r>
              <a:t>More bits can be grouped together → M-ary Shift Keying</a:t>
            </a:r>
          </a:p>
          <a:p>
            <a:r>
              <a:t>Types of Digital Modulation Techniques</a:t>
            </a:r>
          </a:p>
          <a:p>
            <a:r>
              <a:t>There are three main types of Digital Modulation techniques:</a:t>
            </a:r>
          </a:p>
          <a:p>
            <a:r>
              <a:t>Amplitude Shift Keying (ASK)</a:t>
            </a:r>
          </a:p>
          <a:p>
            <a:r>
              <a:t>Frequency Shift Keying (FSK)</a:t>
            </a:r>
          </a:p>
          <a:p>
            <a:r>
              <a:t>Phase Shift Keying (PSK)</a:t>
            </a:r>
          </a:p>
          <a:p>
            <a:r>
              <a:t>1. Amplitude Shift Keying (ASK)</a:t>
            </a:r>
          </a:p>
          <a:p>
            <a:r>
              <a:t>In ASK, the amplitude of the carrier signal is changed according to the digital data.</a:t>
            </a:r>
          </a:p>
          <a:p>
            <a:r>
              <a:t>Frequency and phase remain constant</a:t>
            </a:r>
          </a:p>
          <a:p>
            <a:r>
              <a:t>Amplitude switches between discrete levels</a:t>
            </a:r>
          </a:p>
          <a:p>
            <a:r>
              <a:t>Binary ASK</a:t>
            </a:r>
          </a:p>
          <a:p>
            <a:r>
              <a:t>Bit 1 → High amplitude</a:t>
            </a:r>
          </a:p>
          <a:p>
            <a:r>
              <a:t>Bit 0 → Zero or low amplitude</a:t>
            </a:r>
          </a:p>
          <a:p>
            <a:r>
              <a:t>Characteristics</a:t>
            </a:r>
          </a:p>
          <a:p>
            <a:r>
              <a:t>Simple to implement</a:t>
            </a:r>
          </a:p>
          <a:p>
            <a:r>
              <a:t>Highly affected by noise</a:t>
            </a:r>
          </a:p>
          <a:p>
            <a:r>
              <a:t>Used in optical communication and RFID systems</a:t>
            </a:r>
          </a:p>
          <a:p>
            <a:r>
              <a:t>2. Frequency Shift Keying (FSK)</a:t>
            </a:r>
          </a:p>
          <a:p>
            <a:r>
              <a:t>In FSK, the frequency of the carrier signal is changed according to the digital data.</a:t>
            </a:r>
          </a:p>
          <a:p>
            <a:r>
              <a:t>Amplitude remains constant</a:t>
            </a:r>
          </a:p>
          <a:p>
            <a:r>
              <a:t>Two different frequencies are used</a:t>
            </a:r>
          </a:p>
          <a:p>
            <a:r>
              <a:t>Binary FSK</a:t>
            </a:r>
          </a:p>
          <a:p>
            <a:r>
              <a:t>Bit 1 → Frequency f₁</a:t>
            </a:r>
          </a:p>
          <a:p>
            <a:r>
              <a:t>Bit 0 → Frequency f₂</a:t>
            </a:r>
          </a:p>
          <a:p>
            <a:r>
              <a:t>Characteristics</a:t>
            </a:r>
          </a:p>
          <a:p>
            <a:r>
              <a:t>Better noise immunity than ASK</a:t>
            </a:r>
          </a:p>
          <a:p>
            <a:r>
              <a:t>Requires more bandwidth</a:t>
            </a:r>
          </a:p>
          <a:p>
            <a:r>
              <a:t>Used in modems and low-speed data communication</a:t>
            </a:r>
          </a:p>
          <a:p>
            <a:r>
              <a:t>3. Phase Shift Keying (PSK)</a:t>
            </a:r>
          </a:p>
          <a:p>
            <a:r>
              <a:t>In PSK, the phase of the carrier signal is changed according to the digital data.</a:t>
            </a:r>
          </a:p>
          <a:p>
            <a:r>
              <a:t>Amplitude and frequency remain constant</a:t>
            </a:r>
          </a:p>
          <a:p>
            <a:r>
              <a:t>Phase switches between discrete values</a:t>
            </a:r>
          </a:p>
          <a:p>
            <a:r>
              <a:t>Binary PSK (BPSK)</a:t>
            </a:r>
          </a:p>
          <a:p>
            <a:r>
              <a:t>Bit 1 → Phase 0°</a:t>
            </a:r>
          </a:p>
          <a:p>
            <a:r>
              <a:t>Bit 0 → Phase 180°</a:t>
            </a:r>
          </a:p>
          <a:p>
            <a:r>
              <a:t>Characteristics</a:t>
            </a:r>
          </a:p>
          <a:p>
            <a:r>
              <a:t>Very good noise immunity</a:t>
            </a:r>
          </a:p>
          <a:p>
            <a:r>
              <a:t>More complex receiver</a:t>
            </a:r>
          </a:p>
          <a:p>
            <a:r>
              <a:t>Widely used in modern communication systems</a:t>
            </a:r>
          </a:p>
          <a:p>
            <a:r>
              <a:t>Comparison of ASK, FSK, and PSK</a:t>
            </a:r>
          </a:p>
          <a:p>
            <a:r>
              <a:t>Amplitude Shift Keying (ASK)</a:t>
            </a:r>
          </a:p>
          <a:p>
            <a:r>
              <a:t>Amplitude Shift Keying (ASK) is a digital modulation technique in which the amplitude of a high-frequency carrier wave is changed (shifted) according to the digital message signal, while the frequency and phase of the carrier remain constant.</a:t>
            </a:r>
          </a:p>
          <a:p>
            <a:r>
              <a:t>Each digital symbol (bit or group of bits) is represented by a distinct amplitude level of the carrier wave.</a:t>
            </a:r>
          </a:p>
          <a:p>
            <a:r>
              <a:t>Basic Principle of ASK</a:t>
            </a:r>
          </a:p>
          <a:p>
            <a:r>
              <a:t>Digital data consists of discrete symbols</a:t>
            </a:r>
          </a:p>
          <a:p>
            <a:r>
              <a:t>Each symbol is assigned a specific carrier amplitude</a:t>
            </a:r>
          </a:p>
          <a:p>
            <a:r>
              <a:t>The carrier is transmitted only when required by the data</a:t>
            </a:r>
          </a:p>
          <a:p>
            <a:r>
              <a:t>Hence, information is carried by amplitude variation only</a:t>
            </a:r>
          </a:p>
          <a:p>
            <a:r>
              <a:t>Mathematically, the ASK signal can be written as:</a:t>
            </a:r>
          </a:p>
          <a:p>
            <a:r>
              <a:t>where</a:t>
            </a:r>
          </a:p>
          <a:p>
            <a:r>
              <a:t>= digital message signal (0 or 1, or M levels)</a:t>
            </a:r>
          </a:p>
          <a:p>
            <a:r>
              <a:t>= carrier amplitude</a:t>
            </a:r>
          </a:p>
          <a:p>
            <a:r>
              <a:t>= carrier frequency</a:t>
            </a:r>
          </a:p>
          <a:p>
            <a:r>
              <a:t>= phase</a:t>
            </a:r>
          </a:p>
          <a:p>
            <a:r>
              <a:t>Types of ASK</a:t>
            </a:r>
          </a:p>
          <a:p>
            <a:r>
              <a:t>ASK is mainly divided into two types:</a:t>
            </a:r>
          </a:p>
          <a:p>
            <a:r>
              <a:t>Binary Amplitude Shift Keying (Binary ASK)</a:t>
            </a:r>
          </a:p>
          <a:p>
            <a:r>
              <a:t>M-ary Amplitude Shift Keying (M-ary ASK)</a:t>
            </a:r>
          </a:p>
          <a:p>
            <a:r>
              <a:t>1. Binary Amplitude Shift Keying (Binary ASK)</a:t>
            </a:r>
          </a:p>
          <a:p>
            <a:r>
              <a:t>In Binary ASK, one bit is transmitted at a time.</a:t>
            </a:r>
          </a:p>
          <a:p>
            <a:r>
              <a:t>Logic 1 → carrier with a certain amplitude (for example, 12 V)</a:t>
            </a:r>
          </a:p>
          <a:p>
            <a:r>
              <a:t>Logic 0 → carrier with zero or lower amplitude (often 0 V)</a:t>
            </a:r>
          </a:p>
          <a:p>
            <a:r>
              <a:t>This special case where carrier is present for 1 and absent for 0 is also called</a:t>
            </a:r>
          </a:p>
          <a:p>
            <a:r>
              <a:t>On–Off Keying (OOK).</a:t>
            </a:r>
          </a:p>
          <a:p>
            <a:r>
              <a:t>Characteristics</a:t>
            </a:r>
          </a:p>
          <a:p>
            <a:r>
              <a:t>Simple to generate and detect</a:t>
            </a:r>
          </a:p>
          <a:p>
            <a:r>
              <a:t>Highly sensitive to noise</a:t>
            </a:r>
          </a:p>
          <a:p>
            <a:r>
              <a:t>Poor power efficiency</a:t>
            </a:r>
          </a:p>
          <a:p>
            <a:r>
              <a:t>2. M-ary Amplitude Shift Keying (M-ary ASK)</a:t>
            </a:r>
          </a:p>
          <a:p>
            <a:r>
              <a:t>In M-ary ASK, a group of bits is transmitted as one symbol.</a:t>
            </a:r>
          </a:p>
          <a:p>
            <a:r>
              <a:t>Number of bits per symbol =</a:t>
            </a:r>
          </a:p>
          <a:p>
            <a:r>
              <a:t>Each symbol is assigned a unique amplitude level</a:t>
            </a:r>
          </a:p>
          <a:p>
            <a:r>
              <a:t>Example: 16-ary ASK</a:t>
            </a:r>
          </a:p>
          <a:p>
            <a:r>
              <a:t>Bits per symbol =</a:t>
            </a:r>
          </a:p>
          <a:p>
            <a:r>
              <a:t>Total possible 4-bit combinations = 16</a:t>
            </a:r>
          </a:p>
          <a:p>
            <a:r>
              <a:t>Therefore, 16 different amplitude levels are required</a:t>
            </a:r>
          </a:p>
          <a:p>
            <a:r>
              <a:t>This increases data rate, but makes the system more sensitive to noise.</a:t>
            </a:r>
          </a:p>
          <a:p>
            <a:r>
              <a:t>Coherent and Non-Coherent ASK</a:t>
            </a:r>
          </a:p>
          <a:p>
            <a:r>
              <a:t>Coherent ASK</a:t>
            </a:r>
          </a:p>
          <a:p>
            <a:r>
              <a:t>A single carrier wave is used</a:t>
            </a:r>
          </a:p>
          <a:p>
            <a:r>
              <a:t>All amplitude levels are generated from the same carrier</a:t>
            </a:r>
          </a:p>
          <a:p>
            <a:r>
              <a:t>Requires carrier phase synchronization at receiver</a:t>
            </a:r>
          </a:p>
          <a:p>
            <a:r>
              <a:t>Better performance but higher complexity</a:t>
            </a:r>
          </a:p>
          <a:p>
            <a:r>
              <a:t>Non-Coherent ASK</a:t>
            </a:r>
          </a:p>
          <a:p>
            <a:r>
              <a:t>Multiple carriers with different amplitudes are used</a:t>
            </a:r>
          </a:p>
          <a:p>
            <a:r>
              <a:t>No strict carrier phase synchronization needed</a:t>
            </a:r>
          </a:p>
          <a:p>
            <a:r>
              <a:t>Simpler receiver but poorer performance</a:t>
            </a:r>
          </a:p>
          <a:p>
            <a:r>
              <a:t>ASK Waveform Explanation</a:t>
            </a:r>
          </a:p>
          <a:p>
            <a:r>
              <a:t>When :</a:t>
            </a:r>
          </a:p>
          <a:p>
            <a:r>
              <a:t>Carrier appears with full amplitude</a:t>
            </a:r>
          </a:p>
          <a:p>
            <a:r>
              <a:t>When :</a:t>
            </a:r>
          </a:p>
          <a:p>
            <a:r>
              <a:t>Carrier amplitude becomes zero</a:t>
            </a:r>
          </a:p>
          <a:p>
            <a:r>
              <a:t>Resulting waveform shows sudden amplitude changes</a:t>
            </a:r>
          </a:p>
          <a:p>
            <a:r>
              <a:t>These abrupt changes increase bandwidth</a:t>
            </a:r>
          </a:p>
          <a:p>
            <a:r>
              <a:t>Block Diagram of Amplitude Shift Keying (Transmitter)</a:t>
            </a:r>
          </a:p>
          <a:p>
            <a:r>
              <a:t>Working of ASK Modulator</a:t>
            </a:r>
          </a:p>
          <a:p>
            <a:r>
              <a:t>Analog Message → ADC</a:t>
            </a:r>
          </a:p>
          <a:p>
            <a:r>
              <a:t>The analog message signal is converted into a digital signal using an Analog-to-Digital Converter (ADC).</a:t>
            </a:r>
          </a:p>
          <a:p>
            <a:r>
              <a:t>Digital Signal m(t)</a:t>
            </a:r>
          </a:p>
          <a:p>
            <a:r>
              <a:t>This digital signal represents logic 0s and 1s.</a:t>
            </a:r>
          </a:p>
          <a:p>
            <a:r>
              <a:t>Carrier Generator</a:t>
            </a:r>
          </a:p>
          <a:p>
            <a:r>
              <a:t>A high-frequency sine wave is generated:</a:t>
            </a:r>
          </a:p>
          <a:p>
            <a:r>
              <a:t>Multiplier (Modulator)</a:t>
            </a:r>
          </a:p>
          <a:p>
            <a:r>
              <a:t>The digital signal  multiplies the carrier:</a:t>
            </a:r>
          </a:p>
          <a:p>
            <a:r>
              <a:t>If , carrier passes</a:t>
            </a:r>
          </a:p>
          <a:p>
            <a:r>
              <a:t>If , output becomes zero</a:t>
            </a:r>
          </a:p>
          <a:p>
            <a:r>
              <a:t>Band-Pass Filter (BPF)</a:t>
            </a:r>
          </a:p>
          <a:p>
            <a:r>
              <a:t>Removes unwanted frequency components and limits bandwidth</a:t>
            </a:r>
          </a:p>
          <a:p>
            <a:r>
              <a:t>Output</a:t>
            </a:r>
          </a:p>
          <a:p>
            <a:r>
              <a:t>The resulting signal is the ASK modulated wave</a:t>
            </a:r>
          </a:p>
          <a:p>
            <a:r>
              <a:t>Demodulation of ASK (Receiver)</a:t>
            </a:r>
          </a:p>
          <a:p>
            <a:r>
              <a:t>Working of ASK Demodulator</a:t>
            </a:r>
          </a:p>
          <a:p>
            <a:r>
              <a:t>Received ASK Signal</a:t>
            </a:r>
          </a:p>
          <a:p>
            <a:r>
              <a:t>The modulated signal is received from the channel.</a:t>
            </a:r>
          </a:p>
          <a:p>
            <a:r>
              <a:t>Multiplier (Coherent Detection)</a:t>
            </a:r>
          </a:p>
          <a:p>
            <a:r>
              <a:t>The received signal is multiplied by the same carrier frequency:</a:t>
            </a:r>
          </a:p>
          <a:p>
            <a:r>
              <a:t>Low-Pass Filter (LPF)</a:t>
            </a:r>
          </a:p>
          <a:p>
            <a:r>
              <a:t>Removes high-frequency components and extracts the baseband signal.</a:t>
            </a:r>
          </a:p>
          <a:p>
            <a:r>
              <a:t>Recovered Digital Signal</a:t>
            </a:r>
          </a:p>
          <a:p>
            <a:r>
              <a:t>The original digital message signal is obtained.</a:t>
            </a:r>
          </a:p>
          <a:p>
            <a:r>
              <a:t>DAC (Optional)</a:t>
            </a:r>
          </a:p>
          <a:p>
            <a:r>
              <a:t>If required, the digital signal is converted back into analog form using a Digital-to-Analog Converter.</a:t>
            </a:r>
          </a:p>
          <a:p>
            <a:r>
              <a:t>Advantages of ASK</a:t>
            </a:r>
          </a:p>
          <a:p>
            <a:r>
              <a:t>Simple modulation technique</a:t>
            </a:r>
          </a:p>
          <a:p>
            <a:r>
              <a:t>Easy implementation</a:t>
            </a:r>
          </a:p>
          <a:p>
            <a:r>
              <a:t>Low hardware complexity</a:t>
            </a:r>
          </a:p>
          <a:p>
            <a:r>
              <a:t>Disadvantages of ASK</a:t>
            </a:r>
          </a:p>
          <a:p>
            <a:r>
              <a:t>Highly sensitive to noise</a:t>
            </a:r>
          </a:p>
          <a:p>
            <a:r>
              <a:t>Poor power efficiency</a:t>
            </a:r>
          </a:p>
          <a:p>
            <a:r>
              <a:t>Requires higher bandwidth due to abrupt amplitude changes</a:t>
            </a:r>
          </a:p>
          <a:p>
            <a:r>
              <a:t>Applications of ASK</a:t>
            </a:r>
          </a:p>
          <a:p>
            <a:r>
              <a:t>Optical fiber communication</a:t>
            </a:r>
          </a:p>
          <a:p>
            <a:r>
              <a:t>RFID systems</a:t>
            </a:r>
          </a:p>
          <a:p>
            <a:r>
              <a:t>Infrared communication</a:t>
            </a:r>
          </a:p>
          <a:p>
            <a:r>
              <a:t>Low-cost wireless systems</a:t>
            </a:r>
          </a:p>
          <a:p>
            <a:r>
              <a:t>Frequency Shift Keying (FSK)</a:t>
            </a:r>
          </a:p>
          <a:p>
            <a:r>
              <a:t>Frequency Shift Keying (FSK) is a digital modulation technique in which the frequency of a high-frequency carrier wave is changed (shifted) according to the digital message signal, while the amplitude and phase of the carrier remain constant.</a:t>
            </a:r>
          </a:p>
          <a:p>
            <a:r>
              <a:t>Each digital symbol is represented by a different discrete frequency of the carrier wave.</a:t>
            </a:r>
          </a:p>
          <a:p>
            <a:r>
              <a:t>Basic Principle of FSK</a:t>
            </a:r>
          </a:p>
          <a:p>
            <a:r>
              <a:t>Digital data consists of symbols (bits or groups of bits)</a:t>
            </a:r>
          </a:p>
          <a:p>
            <a:r>
              <a:t>Each symbol is assigned a unique carrier frequency</a:t>
            </a:r>
          </a:p>
          <a:p>
            <a:r>
              <a:t>The carrier frequency switches between fixed values</a:t>
            </a:r>
          </a:p>
          <a:p>
            <a:r>
              <a:t>Information is conveyed through frequency variation only</a:t>
            </a:r>
          </a:p>
          <a:p>
            <a:r>
              <a:t>Mathematically, the FSK signal is written as:</a:t>
            </a:r>
          </a:p>
          <a:p>
            <a:r>
              <a:t>where</a:t>
            </a:r>
          </a:p>
          <a:p>
            <a:r>
              <a:t>= constant carrier amplitude</a:t>
            </a:r>
          </a:p>
          <a:p>
            <a:r>
              <a:t>= carrier frequency corresponding to the symbol</a:t>
            </a:r>
          </a:p>
          <a:p>
            <a:r>
              <a:t>= phase</a:t>
            </a:r>
          </a:p>
          <a:p>
            <a:r>
              <a:t>Types of Frequency Shift Keying</a:t>
            </a:r>
          </a:p>
          <a:p>
            <a:r>
              <a:t>FSK is mainly divided into two types:</a:t>
            </a:r>
          </a:p>
          <a:p>
            <a:r>
              <a:t>Binary Frequency Shift Keying (Binary FSK)</a:t>
            </a:r>
          </a:p>
          <a:p>
            <a:r>
              <a:t>M-ary Frequency Shift Keying (M-ary FSK)</a:t>
            </a:r>
          </a:p>
          <a:p>
            <a:r>
              <a:t>1. Binary Frequency Shift Keying (Binary FSK)</a:t>
            </a:r>
          </a:p>
          <a:p>
            <a:r>
              <a:t>In Binary FSK, one bit is transmitted at a time using two distinct frequencies.</a:t>
            </a:r>
          </a:p>
          <a:p>
            <a:r>
              <a:t>Logic 1 → carrier frequency (e.g., 50 MHz)</a:t>
            </a:r>
          </a:p>
          <a:p>
            <a:r>
              <a:t>Logic 0 → carrier frequency (e.g., 25 MHz)</a:t>
            </a:r>
          </a:p>
          <a:p>
            <a:r>
              <a:t>Only the frequency changes; amplitude remains constant.</a:t>
            </a:r>
          </a:p>
          <a:p>
            <a:r>
              <a:t>Characteristics</a:t>
            </a:r>
          </a:p>
          <a:p>
            <a:r>
              <a:t>Better noise immunity than ASK</a:t>
            </a:r>
          </a:p>
          <a:p>
            <a:r>
              <a:t>Requires larger bandwidth</a:t>
            </a:r>
          </a:p>
          <a:p>
            <a:r>
              <a:t>Simple and reliable digital transmission</a:t>
            </a:r>
          </a:p>
          <a:p>
            <a:r>
              <a:t>2. M-ary Frequency Shift Keying (M-ary FSK)</a:t>
            </a:r>
          </a:p>
          <a:p>
            <a:r>
              <a:t>In M-ary FSK, a group of bits is transmitted as one symbol.</a:t>
            </a:r>
          </a:p>
          <a:p>
            <a:r>
              <a:t>Bits per symbol =</a:t>
            </a:r>
          </a:p>
          <a:p>
            <a:r>
              <a:t>Each symbol is assigned a unique carrier frequency</a:t>
            </a:r>
          </a:p>
          <a:p>
            <a:r>
              <a:t>Example: 16-ary FSK</a:t>
            </a:r>
          </a:p>
          <a:p>
            <a:r>
              <a:t>Bits per symbol =</a:t>
            </a:r>
          </a:p>
          <a:p>
            <a:r>
              <a:t>Total possible 4-bit combinations = 16</a:t>
            </a:r>
          </a:p>
          <a:p>
            <a:r>
              <a:t>Therefore, 16 different carrier frequencies are required</a:t>
            </a:r>
          </a:p>
          <a:p>
            <a:r>
              <a:t>This improves data rate, but increases bandwidth requirement and system complexity.</a:t>
            </a:r>
          </a:p>
          <a:p>
            <a:r>
              <a:t>Coherent and Non-Coherent FSK</a:t>
            </a:r>
          </a:p>
          <a:p>
            <a:r>
              <a:t>Coherent FSK</a:t>
            </a:r>
          </a:p>
          <a:p>
            <a:r>
              <a:t>Frequencies are generated from a single carrier source</a:t>
            </a:r>
          </a:p>
          <a:p>
            <a:r>
              <a:t>Receiver requires phase synchronization</a:t>
            </a:r>
          </a:p>
          <a:p>
            <a:r>
              <a:t>Better performance</a:t>
            </a:r>
          </a:p>
          <a:p>
            <a:r>
              <a:t>More complex receiver design</a:t>
            </a:r>
          </a:p>
          <a:p>
            <a:r>
              <a:t>Non-Coherent FSK</a:t>
            </a:r>
          </a:p>
          <a:p>
            <a:r>
              <a:t>Multiple carrier sources with different frequencies are used</a:t>
            </a:r>
          </a:p>
          <a:p>
            <a:r>
              <a:t>Phase synchronization is not required</a:t>
            </a:r>
          </a:p>
          <a:p>
            <a:r>
              <a:t>Simpler receiver</a:t>
            </a:r>
          </a:p>
          <a:p>
            <a:r>
              <a:t>Slightly poorer performance</a:t>
            </a:r>
          </a:p>
          <a:p>
            <a:r>
              <a:t>Block Diagram of Frequency Shift Keying (FSK)</a:t>
            </a:r>
          </a:p>
          <a:p>
            <a:r>
              <a:t>The FSK system consists of two main parts:</a:t>
            </a:r>
          </a:p>
          <a:p>
            <a:r>
              <a:t>FSK Modulator (Transmitter)</a:t>
            </a:r>
          </a:p>
          <a:p>
            <a:r>
              <a:t>FSK Demodulator (Receiver)</a:t>
            </a:r>
          </a:p>
          <a:p>
            <a:r>
              <a:t>FSK Modulator (Transmitter)</a:t>
            </a:r>
          </a:p>
          <a:p>
            <a:r>
              <a:t>Analog Message → ADC</a:t>
            </a:r>
          </a:p>
          <a:p>
            <a:r>
              <a:t>The analog message signal is first converted into a digital signal using an Analog-to-Digital Converter (ADC).</a:t>
            </a:r>
          </a:p>
          <a:p>
            <a:r>
              <a:t>Digital Message Signal</a:t>
            </a:r>
          </a:p>
          <a:p>
            <a:r>
              <a:t>The output of the ADC is a digital signal consisting of logic 1s and logic 0s.</a:t>
            </a:r>
          </a:p>
          <a:p>
            <a:r>
              <a:t>Carrier Signal Generation</a:t>
            </a:r>
          </a:p>
          <a:p>
            <a:r>
              <a:t>Two carrier signals are generated:</a:t>
            </a:r>
          </a:p>
          <a:p>
            <a:r>
              <a:t>→ carrier for logic 1</a:t>
            </a:r>
          </a:p>
          <a:p>
            <a:r>
              <a:t>→ carrier for logic 0</a:t>
            </a:r>
          </a:p>
          <a:p>
            <a:r>
              <a:t>NOT Gate Operation</a:t>
            </a:r>
          </a:p>
          <a:p>
            <a:r>
              <a:t>The digital signal is split into two paths:</a:t>
            </a:r>
          </a:p>
          <a:p>
            <a:r>
              <a:t>One path goes directly to the first multiplier</a:t>
            </a:r>
          </a:p>
          <a:p>
            <a:r>
              <a:t>The second path passes through a NOT gate and goes to the second multiplier</a:t>
            </a:r>
          </a:p>
          <a:p>
            <a:r>
              <a:t>Multipliers (Modulation Process)</a:t>
            </a:r>
          </a:p>
          <a:p>
            <a:r>
              <a:t>When the digital input is logic 1:</a:t>
            </a:r>
          </a:p>
          <a:p>
            <a:r>
              <a:t>The first multiplier is active</a:t>
            </a:r>
          </a:p>
          <a:p>
            <a:r>
              <a:t>Carrier with frequency appears at the output</a:t>
            </a:r>
          </a:p>
          <a:p>
            <a:r>
              <a:t>The second multiplier output is zero</a:t>
            </a:r>
          </a:p>
          <a:p>
            <a:r>
              <a:t>When the digital input is logic 0:</a:t>
            </a:r>
          </a:p>
          <a:p>
            <a:r>
              <a:t>The NOT gate output becomes logic 1</a:t>
            </a:r>
          </a:p>
          <a:p>
            <a:r>
              <a:t>The second multiplier is active</a:t>
            </a:r>
          </a:p>
          <a:p>
            <a:r>
              <a:t>Carrier with frequency appears at the output</a:t>
            </a:r>
          </a:p>
          <a:p>
            <a:r>
              <a:t>The first multiplier output is zero</a:t>
            </a:r>
          </a:p>
          <a:p>
            <a:r>
              <a:t>Adder</a:t>
            </a:r>
          </a:p>
          <a:p>
            <a:r>
              <a:t>The outputs of both multipliers are added together to form the FSK signal:</a:t>
            </a:r>
          </a:p>
          <a:p>
            <a:r>
              <a:t>(Only one frequency is present at a time.)</a:t>
            </a:r>
          </a:p>
          <a:p>
            <a:r>
              <a:t>Band-Pass Filter (BPF)</a:t>
            </a:r>
          </a:p>
          <a:p>
            <a:r>
              <a:t>Due to abrupt frequency switching, the signal contains unwanted frequency components.</a:t>
            </a:r>
          </a:p>
          <a:p>
            <a:r>
              <a:t>The Band-Pass Filter:</a:t>
            </a:r>
          </a:p>
          <a:p>
            <a:r>
              <a:t>Limits the bandwidth</a:t>
            </a:r>
          </a:p>
          <a:p>
            <a:r>
              <a:t>Removes unwanted spectral components</a:t>
            </a:r>
          </a:p>
          <a:p>
            <a:r>
              <a:t>Output</a:t>
            </a:r>
          </a:p>
          <a:p>
            <a:r>
              <a:t>The filtered signal is the FSK modulated wave, ready for transmission.</a:t>
            </a:r>
          </a:p>
          <a:p>
            <a:r>
              <a:t>FSK Demodulator (Receiver)</a:t>
            </a:r>
          </a:p>
          <a:p>
            <a:r>
              <a:t>Received FSK Signal</a:t>
            </a:r>
          </a:p>
          <a:p>
            <a:r>
              <a:t>The FSK modulated signal is received from the communication channel.</a:t>
            </a:r>
          </a:p>
          <a:p>
            <a:r>
              <a:t>Multipliers (Coherent Detection)</a:t>
            </a:r>
          </a:p>
          <a:p>
            <a:r>
              <a:t>The received signal is fed into two multipliers:</a:t>
            </a:r>
          </a:p>
          <a:p>
            <a:r>
              <a:t>One multiplier uses carrier frequency</a:t>
            </a:r>
          </a:p>
          <a:p>
            <a:r>
              <a:t>The other multiplier uses carrier frequency</a:t>
            </a:r>
          </a:p>
          <a:p>
            <a:r>
              <a:t>Band-Pass Filters</a:t>
            </a:r>
          </a:p>
          <a:p>
            <a:r>
              <a:t>BPF₁ passes only frequency</a:t>
            </a:r>
          </a:p>
          <a:p>
            <a:r>
              <a:t>BPF₂ passes only frequency</a:t>
            </a:r>
          </a:p>
          <a:p>
            <a:r>
              <a:t>Comparator</a:t>
            </a:r>
          </a:p>
          <a:p>
            <a:r>
              <a:t>The outputs of the two BPFs are compared:</a:t>
            </a:r>
          </a:p>
          <a:p>
            <a:r>
              <a:t>If output of BPF₁ &gt; BPF₂ → logic 1</a:t>
            </a:r>
          </a:p>
          <a:p>
            <a:r>
              <a:t>If output of BPF₂ &gt; BPF₁ → logic 0</a:t>
            </a:r>
          </a:p>
          <a:p>
            <a:r>
              <a:t>Recovered Digital Signal</a:t>
            </a:r>
          </a:p>
          <a:p>
            <a:r>
              <a:t>The comparator output is a digital signal identical to the transmitted data.</a:t>
            </a:r>
          </a:p>
          <a:p>
            <a:r>
              <a:t>Digital-to-Analog Converter (DAC)</a:t>
            </a:r>
          </a:p>
          <a:p>
            <a:r>
              <a:t>If required, the recovered digital signal is converted back into an analog signal using a DAC.</a:t>
            </a:r>
          </a:p>
          <a:p>
            <a:r>
              <a:t>Phase Shift Keying (PSK)</a:t>
            </a:r>
          </a:p>
          <a:p>
            <a:r>
              <a:t>Phase Shift Keying (PSK) is a digital modulation technique in which the phase of a high-frequency carrier wave is changed (shifted) according to the digital message signal, while the amplitude and frequency of the carrier remain constant.</a:t>
            </a:r>
          </a:p>
          <a:p>
            <a:r>
              <a:t>Each digital symbol is represented by a distinct phase angle of the carrier wave.</a:t>
            </a:r>
          </a:p>
          <a:p>
            <a:r>
              <a:t>Basic Principle of PSK</a:t>
            </a:r>
          </a:p>
          <a:p>
            <a:r>
              <a:t>Digital data consists of bits or groups of bits</a:t>
            </a:r>
          </a:p>
          <a:p>
            <a:r>
              <a:t>Each symbol is assigned a fixed phase shift</a:t>
            </a:r>
          </a:p>
          <a:p>
            <a:r>
              <a:t>Information is transmitted by changing the phase of the carrier</a:t>
            </a:r>
          </a:p>
          <a:p>
            <a:r>
              <a:t>Amplitude and frequency do not vary</a:t>
            </a:r>
          </a:p>
          <a:p>
            <a:r>
              <a:t>The general PSK signal is:</a:t>
            </a:r>
          </a:p>
          <a:p>
            <a:r>
              <a:t>where</a:t>
            </a:r>
          </a:p>
          <a:p>
            <a:r>
              <a:t>= constant amplitude</a:t>
            </a:r>
          </a:p>
          <a:p>
            <a:r>
              <a:t>= carrier frequency</a:t>
            </a:r>
          </a:p>
          <a:p>
            <a:r>
              <a:t>= phase corresponding to the symbol</a:t>
            </a:r>
          </a:p>
          <a:p>
            <a:r>
              <a:t>Types of Phase Shift Keying</a:t>
            </a:r>
          </a:p>
          <a:p>
            <a:r>
              <a:t>PSK is mainly classified into two types:</a:t>
            </a:r>
          </a:p>
          <a:p>
            <a:r>
              <a:t>Binary Phase Shift Keying (BPSK)</a:t>
            </a:r>
          </a:p>
          <a:p>
            <a:r>
              <a:t>M-ary Phase Shift Keying (M-ary PSK)</a:t>
            </a:r>
          </a:p>
          <a:p>
            <a:r>
              <a:t>1. Binary Phase Shift Keying (BPSK)</a:t>
            </a:r>
          </a:p>
          <a:p>
            <a:r>
              <a:t>In Binary PSK, one bit is transmitted at a time using two different phase angles.</a:t>
            </a:r>
          </a:p>
          <a:p>
            <a:r>
              <a:t>Logic 1 → phase shift (for example, 90° or 180°)</a:t>
            </a:r>
          </a:p>
          <a:p>
            <a:r>
              <a:t>Logic 0 → different phase shift (for example, 0°)</a:t>
            </a:r>
          </a:p>
          <a:p>
            <a:r>
              <a:t>A common practical form is:</a:t>
            </a:r>
          </a:p>
          <a:p>
            <a:r>
              <a:t>0° for logic 1</a:t>
            </a:r>
          </a:p>
          <a:p>
            <a:r>
              <a:t>180° for logic 0</a:t>
            </a:r>
          </a:p>
          <a:p>
            <a:r>
              <a:t>Characteristics</a:t>
            </a:r>
          </a:p>
          <a:p>
            <a:r>
              <a:t>Very good noise immunity</a:t>
            </a:r>
          </a:p>
          <a:p>
            <a:r>
              <a:t>Constant amplitude</a:t>
            </a:r>
          </a:p>
          <a:p>
            <a:r>
              <a:t>Simple and reliable digital transmission</a:t>
            </a:r>
          </a:p>
          <a:p>
            <a:r>
              <a:t>2. M-ary Phase Shift Keying (M-ary PSK)</a:t>
            </a:r>
          </a:p>
          <a:p>
            <a:r>
              <a:t>In M-ary PSK, multiple bits are grouped together and transmitted as one symbol.</a:t>
            </a:r>
          </a:p>
          <a:p>
            <a:r>
              <a:t>Bits per symbol =</a:t>
            </a:r>
          </a:p>
          <a:p>
            <a:r>
              <a:t>Each symbol is assigned a unique phase shift</a:t>
            </a:r>
          </a:p>
          <a:p>
            <a:r>
              <a:t>Example: 16-ary PSK</a:t>
            </a:r>
          </a:p>
          <a:p>
            <a:r>
              <a:t>Bits per symbol =</a:t>
            </a:r>
          </a:p>
          <a:p>
            <a:r>
              <a:t>Total possible 4-bit combinations = 16</a:t>
            </a:r>
          </a:p>
          <a:p>
            <a:r>
              <a:t>Therefore, 16 different phase shifts are required</a:t>
            </a:r>
          </a:p>
          <a:p>
            <a:r>
              <a:t>This increases data rate, but reduces noise margin.</a:t>
            </a:r>
          </a:p>
          <a:p>
            <a:r>
              <a:t>Coherent and Non-Coherent PSK</a:t>
            </a:r>
          </a:p>
          <a:p>
            <a:r>
              <a:t>Coherent PSK</a:t>
            </a:r>
          </a:p>
          <a:p>
            <a:r>
              <a:t>All phase shifts are generated from a single carrier wave</a:t>
            </a:r>
          </a:p>
          <a:p>
            <a:r>
              <a:t>Receiver requires accurate phase synchronization</a:t>
            </a:r>
          </a:p>
          <a:p>
            <a:r>
              <a:t>Better performance</a:t>
            </a:r>
          </a:p>
          <a:p>
            <a:r>
              <a:t>More complex receiver design</a:t>
            </a:r>
          </a:p>
          <a:p>
            <a:r>
              <a:t>Non-Coherent PSK</a:t>
            </a:r>
          </a:p>
          <a:p>
            <a:r>
              <a:t>Multiple carrier waves with different phase shifts are used</a:t>
            </a:r>
          </a:p>
          <a:p>
            <a:r>
              <a:t>Phase synchronization is not strictly required</a:t>
            </a:r>
          </a:p>
          <a:p>
            <a:r>
              <a:t>Simpler receiver</a:t>
            </a:r>
          </a:p>
          <a:p>
            <a:r>
              <a:t>Lower performance compared to coherent PSK</a:t>
            </a:r>
          </a:p>
          <a:p>
            <a:r>
              <a:t>Advantages of PSK</a:t>
            </a:r>
          </a:p>
          <a:p>
            <a:r>
              <a:t>Excellent noise performance</a:t>
            </a:r>
          </a:p>
          <a:p>
            <a:r>
              <a:t>Constant amplitude reduces power variation</a:t>
            </a:r>
          </a:p>
          <a:p>
            <a:r>
              <a:t>More bandwidth-efficient than FSK</a:t>
            </a:r>
          </a:p>
          <a:p>
            <a:r>
              <a:t>Widely used in modern digital communication systems</a:t>
            </a:r>
          </a:p>
          <a:p>
            <a:r>
              <a:t>Disadvantages of PSK</a:t>
            </a:r>
          </a:p>
          <a:p>
            <a:r>
              <a:t>Receiver is more complex</a:t>
            </a:r>
          </a:p>
          <a:p>
            <a:r>
              <a:t>Requires phase synchronization (coherent PSK)</a:t>
            </a:r>
          </a:p>
          <a:p>
            <a:r>
              <a:t>Higher-order PSK is sensitive to noise</a:t>
            </a:r>
          </a:p>
          <a:p>
            <a:r>
              <a:t>Applications of PSK</a:t>
            </a:r>
          </a:p>
          <a:p>
            <a:r>
              <a:t>Satellite communication</a:t>
            </a:r>
          </a:p>
          <a:p>
            <a:r>
              <a:t>Wireless LANs</a:t>
            </a:r>
          </a:p>
          <a:p>
            <a:r>
              <a:t>Mobile communication systems</a:t>
            </a:r>
          </a:p>
          <a:p>
            <a:r>
              <a:t>GPS and digital broadcasting</a:t>
            </a:r>
          </a:p>
          <a:p>
            <a:r>
              <a:t>Block Diagram of Phase Shift Keying (PSK)</a:t>
            </a:r>
          </a:p>
          <a:p>
            <a:r>
              <a:t>A PSK system consists of two main sections:</a:t>
            </a:r>
          </a:p>
          <a:p>
            <a:r>
              <a:t>PSK Modulator (Transmitter)</a:t>
            </a:r>
          </a:p>
          <a:p>
            <a:r>
              <a:t>PSK Demodulator (Receiver)</a:t>
            </a:r>
          </a:p>
          <a:p>
            <a:r>
              <a:t>PSK Modulator (Transmitter)</a:t>
            </a:r>
          </a:p>
          <a:p>
            <a:r>
              <a:t>Analog Message → ADC</a:t>
            </a:r>
          </a:p>
          <a:p>
            <a:r>
              <a:t>The analog message signal is first converted into a digital signal using an Analog-to-Digital Converter (ADC).</a:t>
            </a:r>
          </a:p>
          <a:p>
            <a:r>
              <a:t>Digital Message Signal</a:t>
            </a:r>
          </a:p>
          <a:p>
            <a:r>
              <a:t>The digital output consists of logic 1s and logic 0s.</a:t>
            </a:r>
          </a:p>
          <a:p>
            <a:r>
              <a:t>Carrier Signal Generation</a:t>
            </a:r>
          </a:p>
          <a:p>
            <a:r>
              <a:t>Two carrier signals of the same frequency and amplitude but with different phase shifts are generated:</a:t>
            </a:r>
          </a:p>
          <a:p>
            <a:r>
              <a:t>→ carrier for logic 1</a:t>
            </a:r>
          </a:p>
          <a:p>
            <a:r>
              <a:t>→ carrier for logic 0</a:t>
            </a:r>
          </a:p>
          <a:p>
            <a:r>
              <a:t>NOT Gate Operation</a:t>
            </a:r>
          </a:p>
          <a:p>
            <a:r>
              <a:t>The digital signal is split into two paths:</a:t>
            </a:r>
          </a:p>
          <a:p>
            <a:r>
              <a:t>One path goes directly to the first multiplier</a:t>
            </a:r>
          </a:p>
          <a:p>
            <a:r>
              <a:t>The other path passes through a NOT gate and then to the second multiplier</a:t>
            </a:r>
          </a:p>
          <a:p>
            <a:r>
              <a:t>Multipliers (Phase Modulation Process)</a:t>
            </a:r>
          </a:p>
          <a:p>
            <a:r>
              <a:t>When the digital input is logic 1:</a:t>
            </a:r>
          </a:p>
          <a:p>
            <a:r>
              <a:t>First multiplier is active</a:t>
            </a:r>
          </a:p>
          <a:p>
            <a:r>
              <a:t>Output becomes</a:t>
            </a:r>
          </a:p>
          <a:p>
            <a:r>
              <a:t>Second multiplier output is zero</a:t>
            </a:r>
          </a:p>
          <a:p>
            <a:r>
              <a:t>When the digital input is logic 0:</a:t>
            </a:r>
          </a:p>
          <a:p>
            <a:r>
              <a:t>NOT gate output becomes logic 1</a:t>
            </a:r>
          </a:p>
          <a:p>
            <a:r>
              <a:t>Second multiplier is active</a:t>
            </a:r>
          </a:p>
          <a:p>
            <a:r>
              <a:t>Output becomes</a:t>
            </a:r>
          </a:p>
          <a:p>
            <a:r>
              <a:t>First multiplier output is zero</a:t>
            </a:r>
          </a:p>
          <a:p>
            <a:r>
              <a:t>Adder</a:t>
            </a:r>
          </a:p>
          <a:p>
            <a:r>
              <a:t>The outputs of both multipliers are added:</a:t>
            </a:r>
          </a:p>
          <a:p>
            <a:r>
              <a:t>(Only one phase-shifted carrier is present at a time.)</a:t>
            </a:r>
          </a:p>
          <a:p>
            <a:r>
              <a:t>Band-Pass Filter (BPF)</a:t>
            </a:r>
          </a:p>
          <a:p>
            <a:r>
              <a:t>Abrupt phase transitions introduce unwanted frequency components.</a:t>
            </a:r>
          </a:p>
          <a:p>
            <a:r>
              <a:t>The Band-Pass Filter:</a:t>
            </a:r>
          </a:p>
          <a:p>
            <a:r>
              <a:t>Restricts the bandwidth</a:t>
            </a:r>
          </a:p>
          <a:p>
            <a:r>
              <a:t>Removes unwanted spectral components</a:t>
            </a:r>
          </a:p>
          <a:p>
            <a:r>
              <a:t>Output</a:t>
            </a:r>
          </a:p>
          <a:p>
            <a:r>
              <a:t>The filtered signal is the PSK modulated wave, ready for transmission.</a:t>
            </a:r>
          </a:p>
          <a:p>
            <a:r>
              <a:t>PSK Demodulator (Receiver)</a:t>
            </a:r>
          </a:p>
          <a:p>
            <a:r>
              <a:t>Received PSK Signal</a:t>
            </a:r>
          </a:p>
          <a:p>
            <a:r>
              <a:t>The PSK modulated signal is received from the communication channel.</a:t>
            </a:r>
          </a:p>
          <a:p>
            <a:r>
              <a:t>Multipliers (Coherent Detection)</a:t>
            </a:r>
          </a:p>
          <a:p>
            <a:r>
              <a:t>The received signal is applied to two multipliers:</a:t>
            </a:r>
          </a:p>
          <a:p>
            <a:r>
              <a:t>One uses carrier with phase</a:t>
            </a:r>
          </a:p>
          <a:p>
            <a:r>
              <a:t>The other uses carrier with phase</a:t>
            </a:r>
          </a:p>
          <a:p>
            <a:r>
              <a:t>Band-Pass Filters</a:t>
            </a:r>
          </a:p>
          <a:p>
            <a:r>
              <a:t>BPF₁ passes the signal with phase</a:t>
            </a:r>
          </a:p>
          <a:p>
            <a:r>
              <a:t>BPF₂ passes the signal with phase</a:t>
            </a:r>
          </a:p>
          <a:p>
            <a:r>
              <a:t>Comparator</a:t>
            </a:r>
          </a:p>
          <a:p>
            <a:r>
              <a:t>The outputs of the two BPFs are compared:</a:t>
            </a:r>
          </a:p>
          <a:p>
            <a:r>
              <a:t>If output of BPF₁ &gt; BPF₂ → logic 1</a:t>
            </a:r>
          </a:p>
          <a:p>
            <a:r>
              <a:t>If output of BPF₂ &gt; BPF₁ → logic 0</a:t>
            </a:r>
          </a:p>
          <a:p>
            <a:r>
              <a:t>Recovered Digital Signal</a:t>
            </a:r>
          </a:p>
          <a:p>
            <a:r>
              <a:t>The comparator output is the recovered digital message signal.</a:t>
            </a:r>
          </a:p>
          <a:p>
            <a:r>
              <a:t>Digital-to-Analog Converter (DAC)</a:t>
            </a:r>
          </a:p>
          <a:p>
            <a:r>
              <a:t>If required, the digital signal is converted back into an analog signal using a DAC.</a:t>
            </a:r>
          </a:p>
          <a:p>
            <a:r>
              <a:t>Constellation Diagram of ASK, PSK, FSK</a:t>
            </a:r>
          </a:p>
          <a:p>
            <a:r>
              <a:t>M-ary Encoding</a:t>
            </a:r>
          </a:p>
          <a:p>
            <a:r>
              <a:t>M-ary encoding is a digital modulation technique in which more than two bits are transmitted simultaneously using a single signal symbol.</a:t>
            </a:r>
          </a:p>
          <a:p>
            <a:r>
              <a:t>Here, M represents the number of distinct symbols used for transmission.</a:t>
            </a:r>
          </a:p>
          <a:p>
            <a:r>
              <a:t>Each symbol carries log₂M bits</a:t>
            </a:r>
          </a:p>
          <a:p>
            <a:r>
              <a:t>Higher value of M → more bits per symbol</a:t>
            </a:r>
          </a:p>
          <a:p>
            <a:r>
              <a:t>Main goal: efficient utilization of bandwidth</a:t>
            </a:r>
          </a:p>
          <a:p>
            <a:r>
              <a:t>Need for M-ary Encoding</a:t>
            </a:r>
          </a:p>
          <a:p>
            <a:r>
              <a:t>In binary modulation:</a:t>
            </a:r>
          </a:p>
          <a:p>
            <a:r>
              <a:t>1 symbol carries only 1 bit</a:t>
            </a:r>
          </a:p>
          <a:p>
            <a:r>
              <a:t>In M-ary modulation:</a:t>
            </a:r>
          </a:p>
          <a:p>
            <a:r>
              <a:t>1 symbol carries multiple bits</a:t>
            </a:r>
          </a:p>
          <a:p>
            <a:r>
              <a:t>This helps to:</a:t>
            </a:r>
          </a:p>
          <a:p>
            <a:r>
              <a:t>Reduce bandwidth requirement</a:t>
            </a:r>
          </a:p>
          <a:p>
            <a:r>
              <a:t>Increase data rate</a:t>
            </a:r>
          </a:p>
          <a:p>
            <a:r>
              <a:t>Improve spectral efficiency</a:t>
            </a:r>
          </a:p>
          <a:p>
            <a:r>
              <a:t>Types of M-ary Digital Modulation</a:t>
            </a:r>
          </a:p>
          <a:p>
            <a:r>
              <a:t>M-ary encoding can be applied to ASK, FSK, and PSK.</a:t>
            </a:r>
          </a:p>
          <a:p>
            <a:r>
              <a:t>1. M-ary Amplitude Shift Keying (M-ASK)</a:t>
            </a:r>
          </a:p>
          <a:p>
            <a:r>
              <a:t>M-ary ASK uses multiple amplitude levels of the carrier wave.</a:t>
            </a:r>
          </a:p>
          <a:p>
            <a:r>
              <a:t>Each amplitude level represents a unique bit combination</a:t>
            </a:r>
          </a:p>
          <a:p>
            <a:r>
              <a:t>Number of bits per symbol = log₂M</a:t>
            </a:r>
          </a:p>
          <a:p>
            <a:r>
              <a:t>Example</a:t>
            </a:r>
          </a:p>
          <a:p>
            <a:r>
              <a:t>For 16-ASK:</a:t>
            </a:r>
          </a:p>
          <a:p>
            <a:r>
              <a:t>M = 16</a:t>
            </a:r>
          </a:p>
          <a:p>
            <a:r>
              <a:t>Bits per symbol = log₂16 = 4</a:t>
            </a:r>
          </a:p>
          <a:p>
            <a:r>
              <a:t>16 different amplitude levels are required</a:t>
            </a:r>
          </a:p>
          <a:p>
            <a:r>
              <a:t>Each amplitude represents a unique 4-bit pattern</a:t>
            </a:r>
          </a:p>
          <a:p>
            <a:r>
              <a:t>Characteristics</a:t>
            </a:r>
          </a:p>
          <a:p>
            <a:r>
              <a:t>High data rate</a:t>
            </a:r>
          </a:p>
          <a:p>
            <a:r>
              <a:t>Poor noise immunity</a:t>
            </a:r>
          </a:p>
          <a:p>
            <a:r>
              <a:t>Used where channel noise is low</a:t>
            </a:r>
          </a:p>
          <a:p>
            <a:r>
              <a:t>2. M-ary Frequency Shift Keying (M-FSK)</a:t>
            </a:r>
          </a:p>
          <a:p>
            <a:r>
              <a:t>In M-ary FSK, the carrier frequency is shifted among M discrete frequencies.</a:t>
            </a:r>
          </a:p>
          <a:p>
            <a:r>
              <a:t>Each frequency represents a unique symbol</a:t>
            </a:r>
          </a:p>
          <a:p>
            <a:r>
              <a:t>Multiple bits are transmitted per symbol</a:t>
            </a:r>
          </a:p>
          <a:p>
            <a:r>
              <a:t>Example</a:t>
            </a:r>
          </a:p>
          <a:p>
            <a:r>
              <a:t>For 8-FSK:</a:t>
            </a:r>
          </a:p>
          <a:p>
            <a:r>
              <a:t>M = 8</a:t>
            </a:r>
          </a:p>
          <a:p>
            <a:r>
              <a:t>Bits per symbol = log₂8 = 3</a:t>
            </a:r>
          </a:p>
          <a:p>
            <a:r>
              <a:t>8 different carrier frequencies are required</a:t>
            </a:r>
          </a:p>
          <a:p>
            <a:r>
              <a:t>Characteristics</a:t>
            </a:r>
          </a:p>
          <a:p>
            <a:r>
              <a:t>Better noise performance than M-ASK</a:t>
            </a:r>
          </a:p>
          <a:p>
            <a:r>
              <a:t>Requires large bandwidth</a:t>
            </a:r>
          </a:p>
          <a:p>
            <a:r>
              <a:t>Complex transmitter and receiver</a:t>
            </a:r>
          </a:p>
          <a:p>
            <a:r>
              <a:t>3. M-ary Phase Shift Keying (M-PSK)</a:t>
            </a:r>
          </a:p>
          <a:p>
            <a:r>
              <a:t>In M-ary PSK, the phase of the carrier wave is shifted to represent different symbols.</a:t>
            </a:r>
          </a:p>
          <a:p>
            <a:r>
              <a:t>Carrier amplitude and frequency remain constant</a:t>
            </a:r>
          </a:p>
          <a:p>
            <a:r>
              <a:t>Each phase shift represents a unique bit pattern</a:t>
            </a:r>
          </a:p>
          <a:p>
            <a:r>
              <a:t>Example</a:t>
            </a:r>
          </a:p>
          <a:p>
            <a:r>
              <a:t>For 16-PSK:</a:t>
            </a:r>
          </a:p>
          <a:p>
            <a:r>
              <a:t>M = 16</a:t>
            </a:r>
          </a:p>
          <a:p>
            <a:r>
              <a:t>Bits per symbol = log₂16 = 4</a:t>
            </a:r>
          </a:p>
          <a:p>
            <a:r>
              <a:t>16 distinct phase angles are used</a:t>
            </a:r>
          </a:p>
          <a:p>
            <a:r>
              <a:t>Characteristics</a:t>
            </a:r>
          </a:p>
          <a:p>
            <a:r>
              <a:t>Better bandwidth efficiency than M-FSK</a:t>
            </a:r>
          </a:p>
          <a:p>
            <a:r>
              <a:t>More sensitive to noise for higher M</a:t>
            </a:r>
          </a:p>
          <a:p>
            <a:r>
              <a:t>Widely used in modern communication systems</a:t>
            </a:r>
          </a:p>
          <a:p>
            <a:r>
              <a:t>Applications of Digital Modulation Techniques</a:t>
            </a:r>
          </a:p>
          <a:p>
            <a:r>
              <a:t>1. Military Communication Systems</a:t>
            </a:r>
          </a:p>
          <a:p>
            <a:r>
              <a:t>High security and accuracy required</a:t>
            </a:r>
          </a:p>
          <a:p>
            <a:r>
              <a:t>Encryption possible with digital signals</a:t>
            </a:r>
          </a:p>
          <a:p>
            <a:r>
              <a:t>Reliable communication in noisy environments</a:t>
            </a:r>
          </a:p>
          <a:p>
            <a:r>
              <a:t>2. Mobile Communication Systems</a:t>
            </a:r>
          </a:p>
          <a:p>
            <a:r>
              <a:t>Supports large number of users</a:t>
            </a:r>
          </a:p>
          <a:p>
            <a:r>
              <a:t>High data rate and low interference</a:t>
            </a:r>
          </a:p>
          <a:p>
            <a:r>
              <a:t>Efficient long-distance communication</a:t>
            </a:r>
          </a:p>
          <a:p>
            <a:r>
              <a:t>3. Digital Broadcasting</a:t>
            </a:r>
          </a:p>
          <a:p>
            <a:r>
              <a:t>Used in DAB, DVB, and T-DMB</a:t>
            </a:r>
          </a:p>
          <a:p>
            <a:r>
              <a:t>Efficient transmission of audio, video, and data</a:t>
            </a:r>
          </a:p>
          <a:p>
            <a:r>
              <a:t>High quality and reliable broadcasting</a:t>
            </a:r>
          </a:p>
          <a:p>
            <a:r>
              <a:t>4. Radar Systems</a:t>
            </a:r>
          </a:p>
          <a:p>
            <a:r>
              <a:t>Digital modulation used for pulse shaping</a:t>
            </a:r>
          </a:p>
          <a:p>
            <a:r>
              <a:t>Accurate object detection and tracking</a:t>
            </a:r>
          </a:p>
          <a:p>
            <a:r>
              <a:t>Used in weather monitoring, aviation, and defense</a:t>
            </a:r>
          </a:p>
          <a:p>
            <a:r>
              <a:t>Advantages of Digital Modulation Techniques</a:t>
            </a:r>
          </a:p>
          <a:p>
            <a:r>
              <a:t>1. High Immunity to Noise</a:t>
            </a:r>
          </a:p>
          <a:p>
            <a:r>
              <a:t>Limited number of discrete symbols</a:t>
            </a:r>
          </a:p>
          <a:p>
            <a:r>
              <a:t>Noise cannot easily convert one symbol into another</a:t>
            </a:r>
          </a:p>
          <a:p>
            <a:r>
              <a:t>Improves reliability of received data</a:t>
            </a:r>
          </a:p>
          <a:p>
            <a:r>
              <a:t>2. High Security</a:t>
            </a:r>
          </a:p>
          <a:p>
            <a:r>
              <a:t>Digital data allows encryption</a:t>
            </a:r>
          </a:p>
          <a:p>
            <a:r>
              <a:t>Ensures confidentiality, integrity, and authenticity</a:t>
            </a:r>
          </a:p>
          <a:p>
            <a:r>
              <a:t>Not possible in analog modulation</a:t>
            </a:r>
          </a:p>
          <a:p>
            <a:r>
              <a:t>3. Efficient Bandwidth Utilization</a:t>
            </a:r>
          </a:p>
          <a:p>
            <a:r>
              <a:t>Compression reduces number of bits</a:t>
            </a:r>
          </a:p>
          <a:p>
            <a:r>
              <a:t>M-ary modulation transmits multiple bits per symbol</a:t>
            </a:r>
          </a:p>
          <a:p>
            <a:r>
              <a:t>Better use of available spectrum</a:t>
            </a:r>
          </a:p>
          <a:p>
            <a:r>
              <a:t>4. High Accuracy of Data</a:t>
            </a:r>
          </a:p>
          <a:p>
            <a:r>
              <a:t>Error detection and correction possible</a:t>
            </a:r>
          </a:p>
          <a:p>
            <a:r>
              <a:t>Errors can be identified and corrected at receiver</a:t>
            </a:r>
          </a:p>
          <a:p>
            <a:r>
              <a:t>5. High Capacity</a:t>
            </a:r>
          </a:p>
          <a:p>
            <a:r>
              <a:t>Supports TDMA instead of FDMA</a:t>
            </a:r>
          </a:p>
          <a:p>
            <a:r>
              <a:t>Many users share same frequency at different time slots</a:t>
            </a:r>
          </a:p>
          <a:p>
            <a:r>
              <a:t>Increases system capacity</a:t>
            </a:r>
          </a:p>
          <a:p>
            <a:r>
              <a:t>Disadvantages of Digital Modulation Techniques</a:t>
            </a:r>
          </a:p>
          <a:p>
            <a:r>
              <a:t>1. Additional Circuitry</a:t>
            </a:r>
          </a:p>
          <a:p>
            <a:r>
              <a:t>Requires ADC at transmitter</a:t>
            </a:r>
          </a:p>
          <a:p>
            <a:r>
              <a:t>Requires DAC at receiver</a:t>
            </a:r>
          </a:p>
          <a:p>
            <a:r>
              <a:t>Increases system cost and complexity</a:t>
            </a:r>
          </a:p>
          <a:p>
            <a:r>
              <a:t>2. Synchronization Requirement</a:t>
            </a:r>
          </a:p>
          <a:p>
            <a:r>
              <a:t>Carrier and clock synchronization needed</a:t>
            </a:r>
          </a:p>
          <a:p>
            <a:r>
              <a:t>Requires stable oscillators at both ends</a:t>
            </a:r>
          </a:p>
          <a:p>
            <a:r>
              <a:t>3. High Power Consumption</a:t>
            </a:r>
          </a:p>
          <a:p>
            <a:r>
              <a:t>More power than pulse modulation techniques</a:t>
            </a:r>
          </a:p>
          <a:p>
            <a:r>
              <a:t>Complex processing increases energy usage</a:t>
            </a:r>
          </a:p>
          <a:p>
            <a:r>
              <a:t>Conclusion</a:t>
            </a:r>
          </a:p>
          <a:p>
            <a:r>
              <a:t>Digital modulation techniques, especially M-ary encoding, play a crucial role in modern communication systems. They provide high noise immunity, improved security, efficient bandwidth usage, high accuracy, and large system capacity. Although they require additional</a:t>
            </a:r>
          </a:p>
          <a:p>
            <a:r>
              <a:t>circuitry and power, the advantages far outweigh the disadvantages. Hence, digital modulation</a:t>
            </a:r>
          </a:p>
          <a:p>
            <a:r>
              <a:t>is extensively used in military communication, mobile networks, broadcasting, radar systems, and advanced wireless technologies.</a:t>
            </a:r>
          </a:p>
          <a:p>
            <a:r>
              <a:t>Quadrature Amplitude Modulation (QAM)</a:t>
            </a:r>
          </a:p>
          <a:p>
            <a:r>
              <a:t>Definition:</a:t>
            </a:r>
          </a:p>
          <a:p>
            <a:r>
              <a:t>QAM is a modulation technique that combines Amplitude Shift Keying (ASK) and Phase Shift Keying (PSK) to transmit information by varying both the amplitude and phase of a carrier signal simultaneously. It allows multiple bits to be transmitted per symbol, improving data rate and bandwidth efficiency.</a:t>
            </a:r>
          </a:p>
          <a:p>
            <a:r>
              <a:t>Types of QAM:</a:t>
            </a:r>
          </a:p>
          <a:p>
            <a:r>
              <a:t>Analog QAM:</a:t>
            </a:r>
          </a:p>
          <a:p>
            <a:r>
              <a:t>Transmits two analog signals together using two carriers that are 90° out of phase.</a:t>
            </a:r>
          </a:p>
          <a:p>
            <a:r>
              <a:t>Similar to standard AM but more efficient.</a:t>
            </a:r>
          </a:p>
          <a:p>
            <a:r>
              <a:t>Used in analog TV and radio systems.</a:t>
            </a:r>
          </a:p>
          <a:p>
            <a:r>
              <a:t>Digital QAM (Quantized QAM):</a:t>
            </a:r>
          </a:p>
          <a:p>
            <a:r>
              <a:t>Encodes multiple bits per symbol using discrete amplitude and phase levels.</a:t>
            </a:r>
          </a:p>
          <a:p>
            <a:r>
              <a:t>Common in digital communication systems such as Wi-Fi, LTE, and cable modems.</a:t>
            </a:r>
          </a:p>
          <a:p>
            <a:r>
              <a:t>Examples: 16-QAM (4 bits/symbol), 64-QAM (6 bits/symbol), 256-QAM (8 bits/symbol), 1024-QAM (10 bits/symbol).</a:t>
            </a:r>
          </a:p>
          <a:p>
            <a:r>
              <a:t>Advantages:</a:t>
            </a:r>
          </a:p>
          <a:p>
            <a:r>
              <a:t>High data rate transmission (more bits per symbol).</a:t>
            </a:r>
          </a:p>
          <a:p>
            <a:r>
              <a:t>Efficient use of bandwidth.</a:t>
            </a:r>
          </a:p>
          <a:p>
            <a:r>
              <a:t>Better noise immunity compared to ASK alone.</a:t>
            </a:r>
          </a:p>
          <a:p>
            <a:r>
              <a:t>Supports modern communication standards like Wi-Fi 6.</a:t>
            </a:r>
          </a:p>
          <a:p>
            <a:r>
              <a:t>Disadvantages:</a:t>
            </a:r>
          </a:p>
          <a:p>
            <a:r>
              <a:t>Receiver design is complex (must detect both amplitude and phase).</a:t>
            </a:r>
          </a:p>
          <a:p>
            <a:r>
              <a:t>Requires coherent demodulation (accurate carrier phase and frequency at the receiver).</a:t>
            </a:r>
          </a:p>
          <a:p>
            <a:r>
              <a:t>Sensitive to signal distortion; requires linear amplification for amplitude fidelity.</a:t>
            </a:r>
          </a:p>
          <a:p>
            <a:r>
              <a:t>Applications:</a:t>
            </a:r>
          </a:p>
          <a:p>
            <a:r>
              <a:t>Digital TV and cable modems.</a:t>
            </a:r>
          </a:p>
          <a:p>
            <a:r>
              <a:t>Wi-Fi (802.11a/b/g/n/ac/ax), LTE and 5G cellular networks.</a:t>
            </a:r>
          </a:p>
          <a:p>
            <a:r>
              <a:t>Radio communication and satellite links.</a:t>
            </a:r>
          </a:p>
          <a:p>
            <a:r>
              <a:t>QAM Modulation &amp; Demodulation – Step by Step</a:t>
            </a:r>
          </a:p>
          <a:p>
            <a:r>
              <a:t>QAM (Quadrature Amplitude Modulation): A method to send data by changing both the amplitude and phase of a carrier. It combines ASK (amplitude change) and PSK (phase change).</a:t>
            </a:r>
          </a:p>
          <a:p>
            <a:r>
              <a:t>Carrier signal: A high-frequency sine wave used to carry data. Denoted as or .</a:t>
            </a:r>
          </a:p>
          <a:p>
            <a:r>
              <a:t>In-phase component (I): The part of the signal multiplied by the cosine carrier. Represents one data stream.</a:t>
            </a:r>
          </a:p>
          <a:p>
            <a:r>
              <a:t>Quadrature component (Q): The part multiplied by the sine carrier (90° phase-shifted). Represents the second data stream.</a:t>
            </a:r>
          </a:p>
          <a:p>
            <a:r>
              <a:t>Serial-to-Parallel (S/P) Conversion: Splits the input digital data into two separate streams so each can modulate I and Q components.</a:t>
            </a:r>
          </a:p>
          <a:p>
            <a:r>
              <a:t>Digital-to-Analog Converter (DAC): Converts the digital data streams into analog signals.</a:t>
            </a:r>
          </a:p>
          <a:p>
            <a:r>
              <a:t>Low Pass Filter (LPF): Filters out high-frequency components (like 2× carrier frequency) after demodulation to recover the original signal.</a:t>
            </a:r>
          </a:p>
          <a:p>
            <a:r>
              <a:t>Modulation (Transmitter Side)</a:t>
            </a:r>
          </a:p>
          <a:p>
            <a:r>
              <a:t>Serial-to-Parallel Conversion:</a:t>
            </a:r>
          </a:p>
          <a:p>
            <a:r>
              <a:t>Split input bits into two streams: one for I, one for Q.</a:t>
            </a:r>
          </a:p>
          <a:p>
            <a:r>
              <a:t>Example: 1101 → I: 11, Q: 01.</a:t>
            </a:r>
          </a:p>
          <a:p>
            <a:r>
              <a:t>Digital-to-Analog Conversion (DAC):</a:t>
            </a:r>
          </a:p>
          <a:p>
            <a:r>
              <a:t>Convert digital bits into analog voltages:</a:t>
            </a:r>
          </a:p>
          <a:p>
            <a:r>
              <a:t>Product Modulation:</a:t>
            </a:r>
          </a:p>
          <a:p>
            <a:r>
              <a:t>Multiply I by cosine carrier:</a:t>
            </a:r>
          </a:p>
          <a:p>
            <a:r>
              <a:t>Multiply Q by sine carrier:</a:t>
            </a:r>
          </a:p>
          <a:p>
            <a:r>
              <a:t>Summation:</a:t>
            </a:r>
          </a:p>
          <a:p>
            <a:r>
              <a:t>Add the two signals to form the QAM signal:</a:t>
            </a:r>
          </a:p>
          <a:p>
            <a:r>
              <a:t>Demodulation (Receiver Side)</a:t>
            </a:r>
          </a:p>
          <a:p>
            <a:r>
              <a:t>Signal Splitting:</a:t>
            </a:r>
          </a:p>
          <a:p>
            <a:r>
              <a:t>Split the received QAM signal into two paths: one for I, one for Q.</a:t>
            </a:r>
          </a:p>
          <a:p>
            <a:r>
              <a:t>Mixing:</a:t>
            </a:r>
          </a:p>
          <a:p>
            <a:r>
              <a:t>Multiply the I path by cosine →</a:t>
            </a:r>
          </a:p>
          <a:p>
            <a:r>
              <a:t>Multiply the Q path by sine →</a:t>
            </a:r>
          </a:p>
          <a:p>
            <a:r>
              <a:t>Low Pass Filtering (LPF):</a:t>
            </a:r>
          </a:p>
          <a:p>
            <a:r>
              <a:t>Removes high-frequency terms (2× carrier)</a:t>
            </a:r>
          </a:p>
          <a:p>
            <a:r>
              <a:t>Recovers original message signals:</a:t>
            </a:r>
          </a:p>
          <a:p>
            <a:r>
              <a:t>Digital Conversion:</a:t>
            </a:r>
          </a:p>
          <a:p>
            <a:r>
              <a:t>Convert analog signals back to digital bits using threshold detection.</a:t>
            </a:r>
          </a:p>
          <a:p>
            <a:r>
              <a:t>Mathematical Explanation (Simple)</a:t>
            </a:r>
          </a:p>
          <a:p>
            <a:r>
              <a:t>Transmitted Signal:</a:t>
            </a:r>
          </a:p>
          <a:p>
            <a:r>
              <a:t>Demodulation (I component):</a:t>
            </a:r>
          </a:p>
          <a:p>
            <a:r>
              <a:t>Demodulation (Q component):</a:t>
            </a:r>
          </a:p>
          <a:p>
            <a:r>
              <a:t>Multiplying by the same carrier and filtering out high-frequency terms recovers I and Q signals.</a:t>
            </a:r>
          </a:p>
          <a:p>
            <a:r>
              <a:t>3. Constellation Diagrams &amp; Decision Boundaries</a:t>
            </a:r>
          </a:p>
          <a:p>
            <a:r>
              <a:t>Constellation Diagram:</a:t>
            </a:r>
          </a:p>
          <a:p>
            <a:r>
              <a:t>A 2D plot with I-axis (horizontal) and Q-axis (vertical).</a:t>
            </a:r>
          </a:p>
          <a:p>
            <a:r>
              <a:t>Each point represents a symbol (combination of bits).</a:t>
            </a:r>
          </a:p>
          <a:p>
            <a:r>
              <a:t>The position of the point depends on amplitude (distance from origin) and phase (angle).</a:t>
            </a:r>
          </a:p>
          <a:p>
            <a:r>
              <a:t>4-QAM (Equivalent to QPSK)</a:t>
            </a:r>
          </a:p>
          <a:p>
            <a:r>
              <a:t>Bits per symbol: 2 (e.g., 00, 01, 10, 11)</a:t>
            </a:r>
          </a:p>
          <a:p>
            <a:r>
              <a:t>Points: in the I-Q plane</a:t>
            </a:r>
          </a:p>
          <a:p>
            <a:r>
              <a:t>Decision boundaries: I-axis and Q-axis divide the plane into 4 quadrants</a:t>
            </a:r>
          </a:p>
          <a:p>
            <a:r>
              <a:t>16-QAM</a:t>
            </a:r>
          </a:p>
          <a:p>
            <a:r>
              <a:t>Bits per symbol: 4</a:t>
            </a:r>
          </a:p>
          <a:p>
            <a:r>
              <a:t>Points: 16 points arranged in 4×4 grid</a:t>
            </a:r>
          </a:p>
          <a:p>
            <a:r>
              <a:t>Decision boundaries: Lines halfway between points</a:t>
            </a:r>
          </a:p>
          <a:p>
            <a:r>
              <a:t>Observation: Points are closer → more sensitive to noise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