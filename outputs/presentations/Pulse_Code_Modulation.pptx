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Pulse Code Modulation (PCM)</a:t>
            </a:r>
          </a:p>
          <a:p>
            <a:r>
              <a:t>PCM is a digital communication technique. It takes an analog signal (continuous signal) and converts it into a digital sequence of binary numbers so that the signal can be stored, processed, or transmitted easily.</a:t>
            </a:r>
          </a:p>
          <a:p>
            <a:r>
              <a:t>In simple terms:</a:t>
            </a:r>
          </a:p>
          <a:p>
            <a:r>
              <a:t>PCM = Convert analog signal → digital bits.</a:t>
            </a:r>
          </a:p>
          <a:p>
            <a:r>
              <a:t>PCM is the most widely used digital representation of analog signals in telecommunication, audio, and data transmission systems.</a:t>
            </a:r>
          </a:p>
          <a:p>
            <a:r>
              <a:t>Why PCM is used</a:t>
            </a:r>
          </a:p>
          <a:p>
            <a:r>
              <a:t>Digital signals are less affected by noise.</a:t>
            </a:r>
          </a:p>
          <a:p>
            <a:r>
              <a:t>It is easy to store, compress, encrypt, and process digital data.</a:t>
            </a:r>
          </a:p>
          <a:p>
            <a:r>
              <a:t>Digital systems are more reliable and secure.</a:t>
            </a:r>
          </a:p>
          <a:p>
            <a:r>
              <a:t>PCM can be transmitted over long distances without distortion.</a:t>
            </a:r>
          </a:p>
          <a:p>
            <a:r>
              <a:t>Main Steps of PCM</a:t>
            </a:r>
          </a:p>
          <a:p>
            <a:r>
              <a:t>PCM works in three main steps:</a:t>
            </a:r>
          </a:p>
          <a:p>
            <a:r>
              <a:t>1. Sampling</a:t>
            </a:r>
          </a:p>
          <a:p>
            <a:r>
              <a:t>Sampling means measuring the value of the analog signal at regular time intervals.</a:t>
            </a:r>
          </a:p>
          <a:p>
            <a:r>
              <a:t>Rule:</a:t>
            </a:r>
          </a:p>
          <a:p>
            <a:r>
              <a:t>fs ≥ 2 × fm</a:t>
            </a:r>
          </a:p>
          <a:p>
            <a:r>
              <a:t>(Nyquist sampling rate)</a:t>
            </a:r>
          </a:p>
          <a:p>
            <a:r>
              <a:t>Where</a:t>
            </a:r>
          </a:p>
          <a:p>
            <a:r>
              <a:t>fs = sampling frequency</a:t>
            </a:r>
          </a:p>
          <a:p>
            <a:r>
              <a:t>fm = highest frequency of the signal</a:t>
            </a:r>
          </a:p>
          <a:p>
            <a:r>
              <a:t>Sampling produces discrete-time values.</a:t>
            </a:r>
          </a:p>
          <a:p>
            <a:r>
              <a:t>Types of sampling:</a:t>
            </a:r>
          </a:p>
          <a:p>
            <a:r>
              <a:t>• Ideal sampling</a:t>
            </a:r>
          </a:p>
          <a:p>
            <a:r>
              <a:t>• Natural sampling</a:t>
            </a:r>
          </a:p>
          <a:p>
            <a:r>
              <a:t>• Flat-top sampling (most common in PCM)</a:t>
            </a:r>
          </a:p>
          <a:p>
            <a:r>
              <a:t>2. Quantization</a:t>
            </a:r>
          </a:p>
          <a:p>
            <a:r>
              <a:t>After sampling, the signal has many amplitude values. These values are still analog. Quantization converts these amplitudes into fixed levels.</a:t>
            </a:r>
          </a:p>
          <a:p>
            <a:r>
              <a:t>Think: Instead of infinite values, choose nearest value from a set of allowed levels.</a:t>
            </a:r>
          </a:p>
          <a:p>
            <a:r>
              <a:t>Types of quantization:</a:t>
            </a:r>
          </a:p>
          <a:p>
            <a:r>
              <a:t>Uniform quantization (equal step size)</a:t>
            </a:r>
          </a:p>
          <a:p>
            <a:r>
              <a:t>Non-uniform quantization</a:t>
            </a:r>
          </a:p>
          <a:p>
            <a:r>
              <a:t>μ-law</a:t>
            </a:r>
          </a:p>
          <a:p>
            <a:r>
              <a:t>A-law</a:t>
            </a:r>
          </a:p>
          <a:p>
            <a:r>
              <a:t>Non-uniform quantization gives better performance for signals with small amplitudes (like speech).</a:t>
            </a:r>
          </a:p>
          <a:p>
            <a:r>
              <a:t>Quantization always introduces a small error called quantization noise.</a:t>
            </a:r>
          </a:p>
          <a:p>
            <a:r>
              <a:t>3. Encoding</a:t>
            </a:r>
          </a:p>
          <a:p>
            <a:r>
              <a:t>The quantized levels are now converted into binary numbers.</a:t>
            </a:r>
          </a:p>
          <a:p>
            <a:r>
              <a:t>Each level is assigned a codeword.</a:t>
            </a:r>
          </a:p>
          <a:p>
            <a:r>
              <a:t>Example:</a:t>
            </a:r>
          </a:p>
          <a:p>
            <a:r>
              <a:t>If there are 8 levels → need 3 bits (2³ = 8).</a:t>
            </a:r>
          </a:p>
          <a:p>
            <a:r>
              <a:t>If there are 16 levels → need 4 bits (2⁴ = 16).</a:t>
            </a:r>
          </a:p>
          <a:p>
            <a:r>
              <a:t>This binary code is the final PCM output.</a:t>
            </a:r>
          </a:p>
          <a:p>
            <a:r>
              <a:t>PCM Block Diagram</a:t>
            </a:r>
          </a:p>
          <a:p>
            <a:r>
              <a:t>Input analog signal</a:t>
            </a:r>
          </a:p>
          <a:p>
            <a:r>
              <a:t>Sampler</a:t>
            </a:r>
          </a:p>
          <a:p>
            <a:r>
              <a:t>Quantizer</a:t>
            </a:r>
          </a:p>
          <a:p>
            <a:r>
              <a:t>Encoder</a:t>
            </a:r>
          </a:p>
          <a:p>
            <a:r>
              <a:t>Digital output (bit stream)</a:t>
            </a:r>
          </a:p>
          <a:p>
            <a:r>
              <a:t>Types of PCM</a:t>
            </a:r>
          </a:p>
          <a:p>
            <a:r>
              <a:t>Natural PCM</a:t>
            </a:r>
          </a:p>
          <a:p>
            <a:r>
              <a:t>Differential PCM (DPCM)</a:t>
            </a:r>
          </a:p>
          <a:p>
            <a:r>
              <a:t>Delta Modulation (DM)</a:t>
            </a:r>
          </a:p>
          <a:p>
            <a:r>
              <a:t>Adaptive Delta Modulation (ADM)</a:t>
            </a:r>
          </a:p>
          <a:p>
            <a:r>
              <a:t>Adaptive PCM (APCM)</a:t>
            </a:r>
          </a:p>
          <a:p>
            <a:r>
              <a:t>Advantages of PCM</a:t>
            </a:r>
          </a:p>
          <a:p>
            <a:r>
              <a:t>Very high noise immunity.</a:t>
            </a:r>
          </a:p>
          <a:p>
            <a:r>
              <a:t>Easy error detection and correction.</a:t>
            </a:r>
          </a:p>
          <a:p>
            <a:r>
              <a:t>High security using digital encryption.</a:t>
            </a:r>
          </a:p>
          <a:p>
            <a:r>
              <a:t>Easy signal regeneration at repeaters.</a:t>
            </a:r>
          </a:p>
          <a:p>
            <a:r>
              <a:t>Compatible with modern digital systems.</a:t>
            </a:r>
          </a:p>
          <a:p>
            <a:r>
              <a:t>Disadvantages of PCM</a:t>
            </a:r>
          </a:p>
          <a:p>
            <a:r>
              <a:t>High bandwidth requirement.</a:t>
            </a:r>
          </a:p>
          <a:p>
            <a:r>
              <a:t>More complex than analog communication.</a:t>
            </a:r>
          </a:p>
          <a:p>
            <a:r>
              <a:t>Quantization noise is unavoidable.</a:t>
            </a:r>
          </a:p>
          <a:p>
            <a:r>
              <a:t>Bandwidth Requirement of PCM</a:t>
            </a:r>
          </a:p>
          <a:p>
            <a:r>
              <a:t>If</a:t>
            </a:r>
          </a:p>
          <a:p>
            <a:r>
              <a:t>fs = sampling rate</a:t>
            </a:r>
          </a:p>
          <a:p>
            <a:r>
              <a:t>n = number of bits per sample</a:t>
            </a:r>
          </a:p>
          <a:p>
            <a:r>
              <a:t>Then</a:t>
            </a:r>
          </a:p>
          <a:p>
            <a:r>
              <a:t>PCM bit rate = fs × n</a:t>
            </a:r>
          </a:p>
          <a:p>
            <a:r>
              <a:t>For example:</a:t>
            </a:r>
          </a:p>
          <a:p>
            <a:r>
              <a:t>fs = 8 kHz</a:t>
            </a:r>
          </a:p>
          <a:p>
            <a:r>
              <a:t>n = 8 bits</a:t>
            </a:r>
          </a:p>
          <a:p>
            <a:r>
              <a:t>→ Bit rate = 8,000 × 8 = 64 kbps</a:t>
            </a:r>
          </a:p>
          <a:p>
            <a:r>
              <a:t>Quantization Noise</a:t>
            </a:r>
          </a:p>
          <a:p>
            <a:r>
              <a:t>Quantization introduces an error called quantization noise or quantization error.</a:t>
            </a:r>
          </a:p>
          <a:p>
            <a:r>
              <a:t>For uniform quantization,</a:t>
            </a:r>
          </a:p>
          <a:p>
            <a:r>
              <a:t>Signal-to-Quantization-Noise Ratio (SQNR)</a:t>
            </a:r>
          </a:p>
          <a:p>
            <a:r>
              <a:t>improves by 6 dB for each extra bit.</a:t>
            </a:r>
          </a:p>
          <a:p>
            <a:r>
              <a:t>Non-uniform Quantization (μ-law)</a:t>
            </a:r>
          </a:p>
          <a:p>
            <a:r>
              <a:t>Used mainly in the USA and Japan.</a:t>
            </a:r>
          </a:p>
          <a:p>
            <a:r>
              <a:t>It compresses large amplitude and expands small amplitude.</a:t>
            </a:r>
          </a:p>
          <a:p>
            <a:r>
              <a:t>Gives better quality for speech signals.</a:t>
            </a:r>
          </a:p>
          <a:p>
            <a:r>
              <a:t>PCM Applications</a:t>
            </a:r>
          </a:p>
          <a:p>
            <a:r>
              <a:t>Telephone networks</a:t>
            </a:r>
          </a:p>
          <a:p>
            <a:r>
              <a:t>Digital audio (CD, DVD)</a:t>
            </a:r>
          </a:p>
          <a:p>
            <a:r>
              <a:t>Broadcasting</a:t>
            </a:r>
          </a:p>
          <a:p>
            <a:r>
              <a:t>Satellite communication</a:t>
            </a:r>
          </a:p>
          <a:p>
            <a:r>
              <a:t>Data acquisition systems</a:t>
            </a:r>
          </a:p>
          <a:p>
            <a:r>
              <a:t>Computer sound cards</a:t>
            </a:r>
          </a:p>
          <a:p>
            <a:r>
              <a:t>PCM is the backbone of all digital communication systems where analog signals must be transmitted.</a:t>
            </a:r>
          </a:p>
          <a:p>
            <a:r>
              <a:t>1. Sampling Theorem (Nyquist–Shannon Theorem)</a:t>
            </a:r>
          </a:p>
          <a:p>
            <a:r>
              <a:t>Sampling theorem states:</a:t>
            </a:r>
          </a:p>
          <a:p>
            <a:r>
              <a:t>A continuous-time signal that contains no frequency component higher than</a:t>
            </a:r>
          </a:p>
          <a:p>
            <a:r>
              <a:t>(maximum frequency) can be exactly reconstructed from its samples if the sampling frequency satisfies:</a:t>
            </a:r>
          </a:p>
          <a:p>
            <a:r>
              <a:t>This required minimum rate is the Nyquist Rate.</a:t>
            </a:r>
          </a:p>
          <a:p>
            <a:r>
              <a:t>A signal limited to Hz is called band-limited.</a:t>
            </a:r>
          </a:p>
          <a:p>
            <a:r>
              <a:t>Example:</a:t>
            </a:r>
          </a:p>
          <a:p>
            <a:r>
              <a:t>If ,</a:t>
            </a:r>
          </a:p>
          <a:p>
            <a:r>
              <a:t>then</a:t>
            </a:r>
          </a:p>
          <a:p>
            <a:r>
              <a:t>2. Sampling Rate</a:t>
            </a:r>
          </a:p>
          <a:p>
            <a:r>
              <a:t>Sampling rate is the number of samples taken per second.</a:t>
            </a:r>
          </a:p>
          <a:p>
            <a:r>
              <a:t>If is sampled at interval , then</a:t>
            </a:r>
          </a:p>
          <a:p>
            <a:r>
              <a:t>Where</a:t>
            </a:r>
          </a:p>
          <a:p>
            <a:r>
              <a:t>sampling period.</a:t>
            </a:r>
          </a:p>
          <a:p>
            <a:r>
              <a:t>3. Nyquist Rate</a:t>
            </a:r>
          </a:p>
          <a:p>
            <a:r>
              <a:t>Nyquist rate is the minimum sampling frequency required to avoid aliasing.</a:t>
            </a:r>
          </a:p>
          <a:p>
            <a:r>
              <a:t>Where</a:t>
            </a:r>
          </a:p>
          <a:p>
            <a:r>
              <a:t>highest frequency of the signal.</a:t>
            </a:r>
          </a:p>
          <a:p>
            <a:r>
              <a:t>If you sample below this rate, overlapping of spectral components occurs, called aliasing.</a:t>
            </a:r>
          </a:p>
          <a:p>
            <a:r>
              <a:t>4. Nyquist Interval</a:t>
            </a:r>
          </a:p>
          <a:p>
            <a:r>
              <a:t>Nyquist interval is the maximum allowed time between two samples.</a:t>
            </a:r>
          </a:p>
          <a:p>
            <a:r>
              <a:t>It is the inverse of Nyquist rate.</a:t>
            </a:r>
          </a:p>
          <a:p>
            <a:r>
              <a:t>Example:</a:t>
            </a:r>
          </a:p>
          <a:p>
            <a:r>
              <a:t>If ,</a:t>
            </a:r>
          </a:p>
          <a:p>
            <a:r>
              <a:t>Meaning:</a:t>
            </a:r>
          </a:p>
          <a:p>
            <a:r>
              <a:t>A sample must be taken at least every 0.25 ms.</a:t>
            </a:r>
          </a:p>
          <a:p>
            <a:r>
              <a:t>5. Sampling Techniques</a:t>
            </a:r>
          </a:p>
          <a:p>
            <a:r>
              <a:t>Sampling is mathematically represented as:</a:t>
            </a:r>
          </a:p>
          <a:p>
            <a:r>
              <a:t>Where</a:t>
            </a:r>
          </a:p>
          <a:p>
            <a:r>
              <a:t>= sampling pulse train.</a:t>
            </a:r>
          </a:p>
          <a:p>
            <a:r>
              <a:t>Pulse train is periodic with period :</a:t>
            </a:r>
          </a:p>
          <a:p>
            <a:r>
              <a:t>When multiplied with the analog signal, it creates samples.</a:t>
            </a:r>
          </a:p>
          <a:p>
            <a:r>
              <a:t>Three sampling techniques:</a:t>
            </a:r>
          </a:p>
          <a:p>
            <a:r>
              <a:t>Ideal Sampling</a:t>
            </a:r>
          </a:p>
          <a:p>
            <a:r>
              <a:t>Natural Sampling</a:t>
            </a:r>
          </a:p>
          <a:p>
            <a:r>
              <a:t>Flat-top Sampling</a:t>
            </a:r>
          </a:p>
          <a:p>
            <a:r>
              <a:t>6. Ideal Sampling</a:t>
            </a:r>
          </a:p>
          <a:p>
            <a:r>
              <a:t>Ideal sampling uses delta impulses.</a:t>
            </a:r>
          </a:p>
          <a:p>
            <a:r>
              <a:t>Each sample is an impulse with amplitude equal to the signal value:</a:t>
            </a:r>
          </a:p>
          <a:p>
            <a:r>
              <a:t>Characteristics:</a:t>
            </a:r>
          </a:p>
          <a:p>
            <a:r>
              <a:t>Pulse width = 0</a:t>
            </a:r>
          </a:p>
          <a:p>
            <a:r>
              <a:t>Pulse height = infinite</a:t>
            </a:r>
          </a:p>
          <a:p>
            <a:r>
              <a:t>Purely theoretical</a:t>
            </a:r>
          </a:p>
          <a:p>
            <a:r>
              <a:t>7. Natural Sampling</a:t>
            </a:r>
          </a:p>
          <a:p>
            <a:r>
              <a:t>In natural sampling, pulses have finite width (), and pulse amplitude follows the signal shape.</a:t>
            </a:r>
          </a:p>
          <a:p>
            <a:r>
              <a:t>Mathematically:</a:t>
            </a:r>
          </a:p>
          <a:p>
            <a:r>
              <a:t>Where</a:t>
            </a:r>
          </a:p>
          <a:p>
            <a:r>
              <a:t>is a rectangular pulse of width .</a:t>
            </a:r>
          </a:p>
          <a:p>
            <a:r>
              <a:t>Characteristics:</a:t>
            </a:r>
          </a:p>
          <a:p>
            <a:r>
              <a:t>Sample pulse is not flat.</a:t>
            </a:r>
          </a:p>
          <a:p>
            <a:r>
              <a:t>Top portion of pulse varies with .</a:t>
            </a:r>
          </a:p>
          <a:p>
            <a:r>
              <a:t>Practical in analog circuits.</a:t>
            </a:r>
          </a:p>
          <a:p>
            <a:r>
              <a:t>8. Flat-top Sampling</a:t>
            </a:r>
          </a:p>
          <a:p>
            <a:r>
              <a:t>Used in PCM systems.</a:t>
            </a:r>
          </a:p>
          <a:p>
            <a:r>
              <a:t>Here a sample-and-hold circuit produces a rectangular pulse whose amplitude is constant during the sample period.</a:t>
            </a:r>
          </a:p>
          <a:p>
            <a:r>
              <a:t>Mathematical representation:</a:t>
            </a:r>
          </a:p>
          <a:p>
            <a:r>
              <a:t>In this case, the amplitude:</a:t>
            </a:r>
          </a:p>
          <a:p>
            <a:r>
              <a:t>Characteristics:</a:t>
            </a:r>
          </a:p>
          <a:p>
            <a:r>
              <a:t>Pulse top is flat.</a:t>
            </a:r>
          </a:p>
          <a:p>
            <a:r>
              <a:t>Amplitude held for quantizer.</a:t>
            </a:r>
          </a:p>
          <a:p>
            <a:r>
              <a:t>Used in digital communication to remove amplitude variation during processing.</a:t>
            </a:r>
          </a:p>
          <a:p>
            <a:r>
              <a:t>Aliasing Condition</a:t>
            </a:r>
          </a:p>
          <a:p>
            <a:r>
              <a:t>Aliasing occurs when:</a:t>
            </a:r>
          </a:p>
          <a:p>
            <a:r>
              <a:t>This causes overlapping of spectra.</a:t>
            </a:r>
          </a:p>
          <a:p>
            <a:r>
              <a:t>A low-pass filter called an anti-aliasing filter is used before sampling.</a:t>
            </a:r>
          </a:p>
          <a:p>
            <a:r>
              <a:t>Quantization</a:t>
            </a:r>
          </a:p>
          <a:p>
            <a:r>
              <a:t>Quantization is the second step of PCM.</a:t>
            </a:r>
          </a:p>
          <a:p>
            <a:r>
              <a:t>It converts the infinite amplitude values of a sampled analog signal into finite, discrete amplitude levels.</a:t>
            </a:r>
          </a:p>
          <a:p>
            <a:r>
              <a:t>In simple words:</a:t>
            </a:r>
          </a:p>
          <a:p>
            <a:r>
              <a:t>An analog sample has unlimited possible values.</a:t>
            </a:r>
          </a:p>
          <a:p>
            <a:r>
              <a:t>Quantization forces each sample to the nearest allowed level.</a:t>
            </a:r>
          </a:p>
          <a:p>
            <a:r>
              <a:t>Thus the output of quantization is discrete in time and discrete in amplitude.</a:t>
            </a:r>
          </a:p>
          <a:p>
            <a:r>
              <a:t>1. Why Quantization Is Needed</a:t>
            </a:r>
          </a:p>
          <a:p>
            <a:r>
              <a:t>After sampling:</a:t>
            </a:r>
          </a:p>
          <a:p>
            <a:r>
              <a:t>We get values like:</a:t>
            </a:r>
          </a:p>
          <a:p>
            <a:r>
              <a:t>3.421 V</a:t>
            </a:r>
          </a:p>
          <a:p>
            <a:r>
              <a:t>1.953 V</a:t>
            </a:r>
          </a:p>
          <a:p>
            <a:r>
              <a:t>−0.872 V</a:t>
            </a:r>
          </a:p>
          <a:p>
            <a:r>
              <a:t>2.100 V</a:t>
            </a:r>
          </a:p>
          <a:p>
            <a:r>
              <a:t>…</a:t>
            </a:r>
          </a:p>
          <a:p>
            <a:r>
              <a:t>These values are continuous.</a:t>
            </a:r>
          </a:p>
          <a:p>
            <a:r>
              <a:t>But computers/digital systems cannot store infinite precision.</a:t>
            </a:r>
          </a:p>
          <a:p>
            <a:r>
              <a:t>Quantization:</a:t>
            </a:r>
          </a:p>
          <a:p>
            <a:r>
              <a:t>• chooses the nearest fixed level</a:t>
            </a:r>
          </a:p>
          <a:p>
            <a:r>
              <a:t>• and assigns that level value to the sample.</a:t>
            </a:r>
          </a:p>
          <a:p>
            <a:r>
              <a:t>This makes digital encoding possible.</a:t>
            </a:r>
          </a:p>
          <a:p>
            <a:r>
              <a:t>2. Quantization Levels</a:t>
            </a:r>
          </a:p>
          <a:p>
            <a:r>
              <a:t>If the quantizer has L levels, then each sample can be assigned only one of these values.</a:t>
            </a:r>
          </a:p>
          <a:p>
            <a:r>
              <a:t>Let</a:t>
            </a:r>
          </a:p>
          <a:p>
            <a:r>
              <a:t>where</a:t>
            </a:r>
          </a:p>
          <a:p>
            <a:r>
              <a:t>number of bits per sample.</a:t>
            </a:r>
          </a:p>
          <a:p>
            <a:r>
              <a:t>Example:</a:t>
            </a:r>
          </a:p>
          <a:p>
            <a:r>
              <a:t>If , then</a:t>
            </a:r>
          </a:p>
          <a:p>
            <a:r>
              <a:t>Quantization becomes more accurate when is large.</a:t>
            </a:r>
          </a:p>
          <a:p>
            <a:r>
              <a:t>3. Quantization Step Size (Δ)</a:t>
            </a:r>
          </a:p>
          <a:p>
            <a:r>
              <a:t>Amplitude range of the input signal is:</a:t>
            </a:r>
          </a:p>
          <a:p>
            <a:r>
              <a:t>Total range:</a:t>
            </a:r>
          </a:p>
          <a:p>
            <a:r>
              <a:t>If there are levels, then the step size is:</a:t>
            </a:r>
          </a:p>
          <a:p>
            <a:r>
              <a:t>Δ means the spacing between two quantized amplitude levels.</a:t>
            </a:r>
          </a:p>
          <a:p>
            <a:r>
              <a:t>Smaller Δ → better quality</a:t>
            </a:r>
          </a:p>
          <a:p>
            <a:r>
              <a:t>Larger Δ → more distortion</a:t>
            </a:r>
          </a:p>
          <a:p>
            <a:r>
              <a:t>4. Types of Quantization</a:t>
            </a:r>
          </a:p>
          <a:p>
            <a:r>
              <a:t>There are two important types:</a:t>
            </a:r>
          </a:p>
          <a:p>
            <a:r>
              <a:t>A. Uniform Quantization</a:t>
            </a:r>
          </a:p>
          <a:p>
            <a:r>
              <a:t>Δ (step size) is constant for all levels.</a:t>
            </a:r>
          </a:p>
          <a:p>
            <a:r>
              <a:t>Used for:</a:t>
            </a:r>
          </a:p>
          <a:p>
            <a:r>
              <a:t>• data signals</a:t>
            </a:r>
          </a:p>
          <a:p>
            <a:r>
              <a:t>• low dynamic-range signals</a:t>
            </a:r>
          </a:p>
          <a:p>
            <a:r>
              <a:t>Not suitable for speech because speech has many small amplitude variations.</a:t>
            </a:r>
          </a:p>
          <a:p>
            <a:r>
              <a:t>B. Non-Uniform Quantization</a:t>
            </a:r>
          </a:p>
          <a:p>
            <a:r>
              <a:t>Step size Δ is not constant.</a:t>
            </a:r>
          </a:p>
          <a:p>
            <a:r>
              <a:t>Small amplitudes use small Δ,</a:t>
            </a:r>
          </a:p>
          <a:p>
            <a:r>
              <a:t>Large amplitudes use large Δ.</a:t>
            </a:r>
          </a:p>
          <a:p>
            <a:r>
              <a:t>Two standard companding laws:</a:t>
            </a:r>
          </a:p>
          <a:p>
            <a:r>
              <a:t>μ-law (North America, Japan)</a:t>
            </a:r>
          </a:p>
          <a:p>
            <a:r>
              <a:t>A-law (Europe)</a:t>
            </a:r>
          </a:p>
          <a:p>
            <a:r>
              <a:t>This reduces quantization noise for weak signals (like human voice).</a:t>
            </a:r>
          </a:p>
          <a:p>
            <a:r>
              <a:t>Mathematically for μ-law companding:</a:t>
            </a:r>
          </a:p>
          <a:p>
            <a:r>
              <a:t>5. Quantization Error (Quantization Noise)</a:t>
            </a:r>
          </a:p>
          <a:p>
            <a:r>
              <a:t>Quantization always introduces an error called quantization noise.</a:t>
            </a:r>
          </a:p>
          <a:p>
            <a:r>
              <a:t>Where</a:t>
            </a:r>
          </a:p>
          <a:p>
            <a:r>
              <a:t>actual sample amplitude</a:t>
            </a:r>
          </a:p>
          <a:p>
            <a:r>
              <a:t>quantized level value</a:t>
            </a:r>
          </a:p>
          <a:p>
            <a:r>
              <a:t>Maximum quantization error:</a:t>
            </a:r>
          </a:p>
          <a:p>
            <a:r>
              <a:t>The error is unavoidable because we force the value to nearest level.</a:t>
            </a:r>
          </a:p>
          <a:p>
            <a:r>
              <a:t>6. Signal-to-Quantization Noise Ratio (SQNR)</a:t>
            </a:r>
          </a:p>
          <a:p>
            <a:r>
              <a:t>SQNR measures how good the quantization is.</a:t>
            </a:r>
          </a:p>
          <a:p>
            <a:r>
              <a:t>For a uniform quantizer:</a:t>
            </a:r>
          </a:p>
          <a:p>
            <a:r>
              <a:t>This shows:</a:t>
            </a:r>
          </a:p>
          <a:p>
            <a:r>
              <a:t>Every extra bit increases quality by 6 dB.</a:t>
            </a:r>
          </a:p>
          <a:p>
            <a:r>
              <a:t>Example:</a:t>
            </a:r>
          </a:p>
          <a:p>
            <a:r>
              <a:t>If ,</a:t>
            </a:r>
          </a:p>
          <a:p>
            <a:r>
              <a:t>1. Uniform Quantization</a:t>
            </a:r>
          </a:p>
          <a:p>
            <a:r>
              <a:t>Uniform quantization means all quantization steps are of equal size.</a:t>
            </a:r>
          </a:p>
          <a:p>
            <a:r>
              <a:t>Every quantization interval has exactly the same width.</a:t>
            </a:r>
          </a:p>
          <a:p>
            <a:r>
              <a:t>Step Size (Δ)</a:t>
            </a:r>
          </a:p>
          <a:p>
            <a:r>
              <a:t>If total input amplitude range is from</a:t>
            </a:r>
          </a:p>
          <a:p>
            <a:r>
              <a:t>and the number of quantization levels is</a:t>
            </a:r>
          </a:p>
          <a:p>
            <a:r>
              <a:t>then the step size is</a:t>
            </a:r>
          </a:p>
          <a:p>
            <a:r>
              <a:t>Δ is same for every level.</a:t>
            </a:r>
          </a:p>
          <a:p>
            <a:r>
              <a:t>How uniform quantizer works</a:t>
            </a:r>
          </a:p>
          <a:p>
            <a:r>
              <a:t>For each sample :</a:t>
            </a:r>
          </a:p>
          <a:p>
            <a:r>
              <a:t>Check which interval the value belongs to.</a:t>
            </a:r>
          </a:p>
          <a:p>
            <a:r>
              <a:t>Replace the real value with the nearest midpoint of that interval.</a:t>
            </a:r>
          </a:p>
          <a:p>
            <a:r>
              <a:t>Example:</a:t>
            </a:r>
          </a:p>
          <a:p>
            <a:r>
              <a:t>Suppose Δ = 1 V.</a:t>
            </a:r>
          </a:p>
          <a:p>
            <a:r>
              <a:t>If a sample is 2.3 V → nearest level is 2.5 V.</a:t>
            </a:r>
          </a:p>
          <a:p>
            <a:r>
              <a:t>Quantization Error</a:t>
            </a:r>
          </a:p>
          <a:p>
            <a:r>
              <a:t>Error is the difference between actual and quantized values:</a:t>
            </a:r>
          </a:p>
          <a:p>
            <a:r>
              <a:t>Maximum error:</a:t>
            </a:r>
          </a:p>
          <a:p>
            <a:r>
              <a:t>Advantages</a:t>
            </a:r>
          </a:p>
          <a:p>
            <a:r>
              <a:t>• Simple design</a:t>
            </a:r>
          </a:p>
          <a:p>
            <a:r>
              <a:t>• Easy to implement</a:t>
            </a:r>
          </a:p>
          <a:p>
            <a:r>
              <a:t>• Works well for signals with constant amplitude variation</a:t>
            </a:r>
          </a:p>
          <a:p>
            <a:r>
              <a:t>Disadvantages</a:t>
            </a:r>
          </a:p>
          <a:p>
            <a:r>
              <a:t>• Not efficient for speech, because human voice has many small-amplitude signals.</a:t>
            </a:r>
          </a:p>
          <a:p>
            <a:r>
              <a:t>• Low-amplitude parts suffer large relative distortion.</a:t>
            </a:r>
          </a:p>
          <a:p>
            <a:r>
              <a:t>This leads us to μ-law quantization.</a:t>
            </a:r>
          </a:p>
          <a:p>
            <a:r>
              <a:t>2. μ-Law (Mu-Law) Quantization</a:t>
            </a:r>
          </a:p>
          <a:p>
            <a:r>
              <a:t>μ-law is a non-uniform quantization technique.</a:t>
            </a:r>
          </a:p>
          <a:p>
            <a:r>
              <a:t>It uses compression + uniform quantizer, also called companding.</a:t>
            </a:r>
          </a:p>
          <a:p>
            <a:r>
              <a:t>Companding = Compress before quantization → Expand after decoding.</a:t>
            </a:r>
          </a:p>
          <a:p>
            <a:r>
              <a:t>μ-law is used in North America and Japan for telephone PCM (like 8-bit, 8 kHz speech).</a:t>
            </a:r>
          </a:p>
          <a:p>
            <a:r>
              <a:t>Why non-uniform quantization?</a:t>
            </a:r>
          </a:p>
          <a:p>
            <a:r>
              <a:t>Human hearing is more sensitive to small sounds.</a:t>
            </a:r>
          </a:p>
          <a:p>
            <a:r>
              <a:t>Uniform quantization wastes levels on high-amplitude sounds and gives poor resolution for soft sounds.</a:t>
            </a:r>
          </a:p>
          <a:p>
            <a:r>
              <a:t>μ-law makes small signals bigger (compresses dynamic range), so they use more quantization levels.</a:t>
            </a:r>
          </a:p>
          <a:p>
            <a:r>
              <a:t>This reduces error for quiet speech.</a:t>
            </a:r>
          </a:p>
          <a:p>
            <a:r>
              <a:t>Mathematical Formula of μ-Law Compression</a:t>
            </a:r>
          </a:p>
          <a:p>
            <a:r>
              <a:t>Input (normalized between −1 and +1):</a:t>
            </a:r>
          </a:p>
          <a:p>
            <a:r>
              <a:t>Compression:</a:t>
            </a:r>
          </a:p>
          <a:p>
            <a:r>
              <a:t>Where</a:t>
            </a:r>
          </a:p>
          <a:p>
            <a:r>
              <a:t>= compression parameter</a:t>
            </a:r>
          </a:p>
          <a:p>
            <a:r>
              <a:t>Standard value:</a:t>
            </a:r>
          </a:p>
          <a:p>
            <a:r>
              <a:t>Explanation of variables:</a:t>
            </a:r>
          </a:p>
          <a:p>
            <a:r>
              <a:t>• = original sample</a:t>
            </a:r>
          </a:p>
          <a:p>
            <a:r>
              <a:t>• = compressed sample</a:t>
            </a:r>
          </a:p>
          <a:p>
            <a:r>
              <a:t>• = +1 or −1 depending on the sign</a:t>
            </a:r>
          </a:p>
          <a:p>
            <a:r>
              <a:t>• = natural log</a:t>
            </a:r>
          </a:p>
          <a:p>
            <a:r>
              <a:t>What compression does</a:t>
            </a:r>
          </a:p>
          <a:p>
            <a:r>
              <a:t>For small |x|:</a:t>
            </a:r>
          </a:p>
          <a:p>
            <a:r>
              <a:t>ln(1+μ|x|) grows fast → spreads them out → less quantization noise.</a:t>
            </a:r>
          </a:p>
          <a:p>
            <a:r>
              <a:t>For large |x|:</a:t>
            </a:r>
          </a:p>
          <a:p>
            <a:r>
              <a:t>log grows slowly → compresses large signals → saves bits.</a:t>
            </a:r>
          </a:p>
          <a:p>
            <a:r>
              <a:t>μ-Law Expansion (Receiver Side)</a:t>
            </a:r>
          </a:p>
          <a:p>
            <a:r>
              <a:t>After quantization and transmission, the receiver expands:</a:t>
            </a:r>
          </a:p>
          <a:p>
            <a:r>
              <a:t>Expansion reverses compression, restoring original dynamic shape of speech.</a:t>
            </a:r>
          </a:p>
          <a:p>
            <a:r>
              <a:t>3. Uniform vs μ-Law (Conceptual Difference)</a:t>
            </a:r>
          </a:p>
          <a:p>
            <a:r>
              <a:t>Uniform Quantization</a:t>
            </a:r>
          </a:p>
          <a:p>
            <a:r>
              <a:t>• Δ = constant</a:t>
            </a:r>
          </a:p>
          <a:p>
            <a:r>
              <a:t>• All steps equal</a:t>
            </a:r>
          </a:p>
          <a:p>
            <a:r>
              <a:t>• Good for data signals</a:t>
            </a:r>
          </a:p>
          <a:p>
            <a:r>
              <a:t>• Not ideal for speech</a:t>
            </a:r>
          </a:p>
          <a:p>
            <a:r>
              <a:t>• More noise for low amplitudes</a:t>
            </a:r>
          </a:p>
          <a:p>
            <a:r>
              <a:t>μ-law Quantization</a:t>
            </a:r>
          </a:p>
          <a:p>
            <a:r>
              <a:t>• Δ is small for small amplitudes</a:t>
            </a:r>
          </a:p>
          <a:p>
            <a:r>
              <a:t>• Δ becomes larger for high amplitudes</a:t>
            </a:r>
          </a:p>
          <a:p>
            <a:r>
              <a:t>• Ideal for speech</a:t>
            </a:r>
          </a:p>
          <a:p>
            <a:r>
              <a:t>• Follows human ear sensitivity</a:t>
            </a:r>
          </a:p>
          <a:p>
            <a:r>
              <a:t>• Better Signal-to-Noise Ratio (SNR)</a:t>
            </a:r>
          </a:p>
          <a:p>
            <a:r>
              <a:t>Definition of Line Coding</a:t>
            </a:r>
          </a:p>
          <a:p>
            <a:r>
              <a:t>Line coding is a technique used to convert digital data (usually in binary form) into a digital signal suitable for transmission over a physical communication channel, such as a copper wire, fiber optics, or wireless medium.</a:t>
            </a:r>
          </a:p>
          <a:p>
            <a:r>
              <a:t>The goal is to represent 1s and 0s (binary data) with voltage levels, pulses, or transitions that can be transmitted reliably.</a:t>
            </a:r>
          </a:p>
          <a:p>
            <a:r>
              <a:t>It is used in baseband transmission, where signals are sent without modulation.</a:t>
            </a:r>
          </a:p>
          <a:p>
            <a:r>
              <a:t>Mathematically, if the digital data is where , line coding maps this sequence to a signal that is sent over the channel.</a:t>
            </a:r>
          </a:p>
          <a:p>
            <a:r>
              <a:t>2. Objectives of Line Coding</a:t>
            </a:r>
          </a:p>
          <a:p>
            <a:r>
              <a:t>Line coding serves several purposes:</a:t>
            </a:r>
          </a:p>
          <a:p>
            <a:r>
              <a:t>Transmit digital data over a channel: Convert binary sequences into electrical signals.</a:t>
            </a:r>
          </a:p>
          <a:p>
            <a:r>
              <a:t>Maintain synchronization: Ensure that the receiver can determine where each bit starts and ends.</a:t>
            </a:r>
          </a:p>
          <a:p>
            <a:r>
              <a:t>Control DC component: Avoid a large DC component in the transmitted signal, which is unsuitable for transformers or capacitive coupling.</a:t>
            </a:r>
          </a:p>
          <a:p>
            <a:r>
              <a:t>Error detection (optional): Some line codes can help detect errors.</a:t>
            </a:r>
          </a:p>
          <a:p>
            <a:r>
              <a:t>3. Basic Properties of Line Codes</a:t>
            </a:r>
          </a:p>
          <a:p>
            <a:r>
              <a:t>Bandwidth Requirement: The frequency range needed to transmit the signal.</a:t>
            </a:r>
          </a:p>
          <a:p>
            <a:r>
              <a:t>Power Efficiency: The amount of power required to transmit the signal reliably.</a:t>
            </a:r>
          </a:p>
          <a:p>
            <a:r>
              <a:t>DC Component: Some line codes produce a DC level; others avoid it.</a:t>
            </a:r>
          </a:p>
          <a:p>
            <a:r>
              <a:t>Self-synchronization: Ability of the signal to allow the receiver to synchronize with the transmitter.</a:t>
            </a:r>
          </a:p>
          <a:p>
            <a:r>
              <a:t>4. Types of Line Coding</a:t>
            </a:r>
          </a:p>
          <a:p>
            <a:r>
              <a:t>Line coding schemes are broadly classified into three categories:</a:t>
            </a:r>
          </a:p>
          <a:p>
            <a:r>
              <a:t>A. Unipolar Line Codes</a:t>
            </a:r>
          </a:p>
          <a:p>
            <a:r>
              <a:t>Uses one voltage level (positive or zero) for 1 and zero for 0.</a:t>
            </a:r>
          </a:p>
          <a:p>
            <a:r>
              <a:t>Simple but has a large DC component.</a:t>
            </a:r>
          </a:p>
          <a:p>
            <a:r>
              <a:t>Example: Unipolar NRZ (Non-Return to Zero)</a:t>
            </a:r>
          </a:p>
          <a:p>
            <a:r>
              <a:t>Pros: Simple, easy to implement</a:t>
            </a:r>
          </a:p>
          <a:p>
            <a:r>
              <a:t>Cons: Poor synchronization, DC component problem</a:t>
            </a:r>
          </a:p>
          <a:p>
            <a:r>
              <a:t>B. Polar Line Codes</a:t>
            </a:r>
          </a:p>
          <a:p>
            <a:r>
              <a:t>Uses two voltage levels: one for 1 and the opposite for 0.</a:t>
            </a:r>
          </a:p>
          <a:p>
            <a:r>
              <a:t>No DC component if signal is balanced.</a:t>
            </a:r>
          </a:p>
          <a:p>
            <a:r>
              <a:t>Examples: NRZ-L, NRZ-I, RZ</a:t>
            </a:r>
          </a:p>
          <a:p>
            <a:r>
              <a:t>1. NRZ-L (Non-Return to Zero-Level)</a:t>
            </a:r>
          </a:p>
          <a:p>
            <a:r>
              <a:t>1 → +V, 0 → -V (or vice versa)</a:t>
            </a:r>
          </a:p>
          <a:p>
            <a:r>
              <a:t>Level depends on the bit value.</a:t>
            </a:r>
          </a:p>
          <a:p>
            <a:r>
              <a:t>2. NRZ-I (Non-Return to Zero-Inverted)</a:t>
            </a:r>
          </a:p>
          <a:p>
            <a:r>
              <a:t>Signal inverts when 1 is transmitted; stays same for 0.</a:t>
            </a:r>
          </a:p>
          <a:p>
            <a:r>
              <a:t>3. Return-to-Zero (RZ)</a:t>
            </a:r>
          </a:p>
          <a:p>
            <a:r>
              <a:t>Signal returns to zero in the middle of each bit period.</a:t>
            </a:r>
          </a:p>
          <a:p>
            <a:r>
              <a:t>Reduces synchronization problems but requires more bandwidth.</a:t>
            </a:r>
          </a:p>
          <a:p>
            <a:r>
              <a:t>C. Manchester Encoding</a:t>
            </a:r>
          </a:p>
          <a:p>
            <a:r>
              <a:t>Combines data and clock signal in one waveform.</a:t>
            </a:r>
          </a:p>
          <a:p>
            <a:r>
              <a:t>Transition occurs at the middle of each bit period:</a:t>
            </a:r>
          </a:p>
          <a:p>
            <a:r>
              <a:t>Self-clocking, good for synchronization.</a:t>
            </a:r>
          </a:p>
          <a:p>
            <a:r>
              <a:t>Used in Ethernet (10BASE-T).</a:t>
            </a:r>
          </a:p>
          <a:p>
            <a:r>
              <a:t>D. Differential Manchester Encoding</a:t>
            </a:r>
          </a:p>
          <a:p>
            <a:r>
              <a:t>A variation of Manchester encoding.</a:t>
            </a:r>
          </a:p>
          <a:p>
            <a:r>
              <a:t>Transition at the beginning of bit period indicates 0; no transition indicates 1.</a:t>
            </a:r>
          </a:p>
          <a:p>
            <a:r>
              <a:t>Robust against polarity reversals.</a:t>
            </a:r>
          </a:p>
          <a:p>
            <a:r>
              <a:t>E. Bipolar Line Codes (AMI - Alternate Mark Inversion)</a:t>
            </a:r>
          </a:p>
          <a:p>
            <a:r>
              <a:t>0 → 0V, 1 → +V or -V alternating for each consecutive 1.</a:t>
            </a:r>
          </a:p>
          <a:p>
            <a:r>
              <a:t>Eliminates DC component and allows easy error detection.</a:t>
            </a:r>
          </a:p>
          <a:p>
            <a:r>
              <a:t>Example: T1 digital system</a:t>
            </a:r>
          </a:p>
          <a:p>
            <a:r>
              <a:t>5. Key Characteristics and Mathematical Representation</a:t>
            </a:r>
          </a:p>
          <a:p>
            <a:r>
              <a:t>Bit duration: , where = bit rate</a:t>
            </a:r>
          </a:p>
          <a:p>
            <a:r>
              <a:t>Signal waveform:</a:t>
            </a:r>
          </a:p>
          <a:p>
            <a:r>
              <a:t>Where is the pulse shape (rectangular, RZ, etc.)</a:t>
            </a:r>
          </a:p>
          <a:p>
            <a:r>
              <a:t>Spectral properties: Different line codes have different frequency spectra, affecting bandwidth usage.</a:t>
            </a:r>
          </a:p>
          <a:p>
            <a:r>
              <a:t>6. Comparison of Line Coding Schemes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